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un/m2QiYGuZQ8m+ppYpm141Pq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853F54-68B2-49E6-BA1A-43321D61A397}">
  <a:tblStyle styleId="{54853F54-68B2-49E6-BA1A-43321D61A3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53ed4f3a37_1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53ed4f3a37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3ed4f3a37_1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53ed4f3a3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3ed4f3a37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53ed4f3a37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3ed4f3a37_1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53ed4f3a37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3ed4f3a37_1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53ed4f3a37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53ed4f3a37_1_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53ed4f3a37_1_3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53ed4f3a37_1_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g353ed4f3a37_1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Título y text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3ed4f3a37_1_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53ed4f3a37_1_8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53ed4f3a37_1_11" title="KeepcodingColores_RGB 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050" y="1453825"/>
            <a:ext cx="7480150" cy="221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53ed4f3a37_1_11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g353ed4f3a37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53ed4f3a37_1_11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53ed4f3a37_1_11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cursos@keepcoding.io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g353ed4f3a37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53ed4f3a37_1_11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highlight>
                  <a:srgbClr val="161625"/>
                </a:highlight>
                <a:latin typeface="Arial"/>
                <a:ea typeface="Arial"/>
                <a:cs typeface="Arial"/>
                <a:sym typeface="Arial"/>
              </a:rPr>
              <a:t>(+34) 916 33 1779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g353ed4f3a37_1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ntilla Vacía">
  <p:cSld name="Plantilla Vacía">
    <p:bg>
      <p:bgPr>
        <a:solidFill>
          <a:srgbClr val="1D1D3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53ed4f3a37_1_2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" name="Google Shape;27;g353ed4f3a37_1_20"/>
          <p:cNvSpPr txBox="1"/>
          <p:nvPr>
            <p:ph type="ctrTitle"/>
          </p:nvPr>
        </p:nvSpPr>
        <p:spPr>
          <a:xfrm>
            <a:off x="311708" y="5692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53ed4f3a37_1_20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53ed4f3a37_1_20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53ed4f3a37_1_20"/>
          <p:cNvSpPr txBox="1"/>
          <p:nvPr/>
        </p:nvSpPr>
        <p:spPr>
          <a:xfrm>
            <a:off x="3094950" y="3234100"/>
            <a:ext cx="295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</a:pPr>
            <a:r>
              <a:rPr b="1" i="0" lang="es" sz="3400" u="none" cap="none" strike="noStrike">
                <a:solidFill>
                  <a:srgbClr val="F6FE8C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>
  <p:cSld name="Vacía">
    <p:bg>
      <p:bgPr>
        <a:solidFill>
          <a:srgbClr val="1D1D3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3ed4f3a37_1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1_Título y text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53ed4f3a37_1_29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53ed4f3a37_1_29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3ed4f3a37_1_32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9" name="Google Shape;39;g353ed4f3a37_1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3ed4f3a37_1_35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g353ed4f3a37_1_35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1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3ed4f3a37_1_39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6" name="Google Shape;46;g353ed4f3a37_1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2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53ed4f3a37_1_0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353ed4f3a37_1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53ed4f3a37_1_43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53ed4f3a37_1_43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AI ENGINEERING</a:t>
            </a:r>
            <a:endParaRPr sz="4400"/>
          </a:p>
        </p:txBody>
      </p:sp>
      <p:sp>
        <p:nvSpPr>
          <p:cNvPr id="54" name="Google Shape;54;g353ed4f3a37_1_43"/>
          <p:cNvSpPr txBox="1"/>
          <p:nvPr>
            <p:ph idx="1" type="subTitle"/>
          </p:nvPr>
        </p:nvSpPr>
        <p:spPr>
          <a:xfrm>
            <a:off x="1345800" y="3234100"/>
            <a:ext cx="6217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>
                <a:solidFill>
                  <a:srgbClr val="F6FE8C"/>
                </a:solidFill>
              </a:rPr>
              <a:t>Optimización del </a:t>
            </a:r>
            <a:r>
              <a:rPr lang="es">
                <a:solidFill>
                  <a:srgbClr val="F6FE8C"/>
                </a:solidFill>
              </a:rPr>
              <a:t>Finetuning</a:t>
            </a:r>
            <a:endParaRPr>
              <a:solidFill>
                <a:srgbClr val="F6FE8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¿Que tenemos hasta ahora?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628650" y="1605725"/>
            <a:ext cx="49536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Preentrenar un modelo es costoso, intensivo en cómputo y memoria.</a:t>
            </a:r>
            <a:br>
              <a:rPr lang="es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Finetunear un modelo requiere actualizar todos los pesos del modelo.</a:t>
            </a:r>
            <a:br>
              <a:rPr lang="es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Finetunear también es costoso, intensivo en cómputo y memoria.</a:t>
            </a:r>
            <a:endParaRPr/>
          </a:p>
        </p:txBody>
      </p:sp>
      <p:pic>
        <p:nvPicPr>
          <p:cNvPr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1075" y="1462126"/>
            <a:ext cx="3077851" cy="306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349" y="674174"/>
            <a:ext cx="6223300" cy="41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PEFT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628650" y="1605725"/>
            <a:ext cx="44469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El </a:t>
            </a:r>
            <a:r>
              <a:rPr b="1" lang="es"/>
              <a:t>P</a:t>
            </a:r>
            <a:r>
              <a:rPr lang="es"/>
              <a:t>arameter </a:t>
            </a:r>
            <a:r>
              <a:rPr b="1" lang="es"/>
              <a:t>E</a:t>
            </a:r>
            <a:r>
              <a:rPr lang="es"/>
              <a:t>fficient </a:t>
            </a:r>
            <a:r>
              <a:rPr b="1" lang="es"/>
              <a:t>F</a:t>
            </a:r>
            <a:r>
              <a:rPr lang="es"/>
              <a:t>ine-</a:t>
            </a:r>
            <a:r>
              <a:rPr b="1" lang="es"/>
              <a:t>T</a:t>
            </a:r>
            <a:r>
              <a:rPr lang="es"/>
              <a:t>uning!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Solo actualiza un subconjunto de parámetros manteniendo la mayoría de los pesos congelados.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Reduce los requisitos de memoria, ¡permitiendo entrenamiento en una sola GPU!</a:t>
            </a:r>
            <a:endParaRPr/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 b="23436" l="0" r="0" t="0"/>
          <a:stretch/>
        </p:blipFill>
        <p:spPr>
          <a:xfrm>
            <a:off x="5222725" y="1611235"/>
            <a:ext cx="3763649" cy="192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PEFT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graphicFrame>
        <p:nvGraphicFramePr>
          <p:cNvPr id="79" name="Google Shape;79;p7"/>
          <p:cNvGraphicFramePr/>
          <p:nvPr/>
        </p:nvGraphicFramePr>
        <p:xfrm>
          <a:off x="1231475" y="133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{54853F54-68B2-49E6-BA1A-43321D61A397}</a:tableStyleId>
              </a:tblPr>
              <a:tblGrid>
                <a:gridCol w="1901900"/>
                <a:gridCol w="2683050"/>
                <a:gridCol w="22924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Fine-tuning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PEFT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Requerimientos computacionales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Similares a los del entrenamiento, pero </a:t>
                      </a: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menos tiempo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Al entrenar un subset de parámetros, los requerimientos son muy </a:t>
                      </a: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pocos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Requerimientos de espacio en disco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El modelo </a:t>
                      </a: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incrementa 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en tamaño en disco.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¡El modelo se vuelve más </a:t>
                      </a: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pequeño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!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Datos de entrenamiento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 </a:t>
                      </a: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grande 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 muchos ejemplos.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 un dataset </a:t>
                      </a: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pequeño 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es suficiente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Rendimiento del modelo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Mejor 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que en PEFT.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Similar a un Fine-tuning total, a veces </a:t>
                      </a:r>
                      <a:r>
                        <a:rPr b="1"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peor</a:t>
                      </a:r>
                      <a:r>
                        <a:rPr lang="e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7"/>
          <p:cNvSpPr txBox="1"/>
          <p:nvPr/>
        </p:nvSpPr>
        <p:spPr>
          <a:xfrm>
            <a:off x="6213775" y="136950"/>
            <a:ext cx="981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s" sz="39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🔑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PEFT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 txBox="1"/>
          <p:nvPr/>
        </p:nvSpPr>
        <p:spPr>
          <a:xfrm>
            <a:off x="320225" y="1195000"/>
            <a:ext cx="7176900" cy="3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Nuevos parámetros</a:t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3193650" y="1626100"/>
            <a:ext cx="2756700" cy="2756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3446400" y="1811975"/>
            <a:ext cx="2250600" cy="2313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br>
              <a:rPr b="0" i="0" lang="es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❄️</a:t>
            </a:r>
            <a:endParaRPr b="0" i="0" sz="2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8"/>
          <p:cNvCxnSpPr/>
          <p:nvPr/>
        </p:nvCxnSpPr>
        <p:spPr>
          <a:xfrm>
            <a:off x="2094925" y="2282625"/>
            <a:ext cx="1116000" cy="355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3ed4f3a37_1_11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PEFT fine-tuning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95" name="Google Shape;95;g353ed4f3a37_1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Low-Rank Adaptation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 txBox="1"/>
          <p:nvPr>
            <p:ph idx="1" type="body"/>
          </p:nvPr>
        </p:nvSpPr>
        <p:spPr>
          <a:xfrm>
            <a:off x="628650" y="1605725"/>
            <a:ext cx="42171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Es un PEFT que introduce matrices a las originales.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Congela los parámetros originales del modelo.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Introduce pequeñas matrices de descomposición de rango.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Reduce hasta un 90% aproximadamente los parámetros a entrenar.</a:t>
            </a:r>
            <a:endParaRPr/>
          </a:p>
        </p:txBody>
      </p:sp>
      <p:pic>
        <p:nvPicPr>
          <p:cNvPr id="102" name="Google Shape;10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625" y="1605713"/>
            <a:ext cx="3763649" cy="1968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Low-Rank Adaptation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108" name="Google Shape;1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100" y="1268175"/>
            <a:ext cx="5733574" cy="34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/>
        </p:nvSpPr>
        <p:spPr>
          <a:xfrm>
            <a:off x="6213775" y="136950"/>
            <a:ext cx="981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s" sz="39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🔑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Cuantificación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113" y="2037224"/>
            <a:ext cx="7471774" cy="14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Cuantificación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121" name="Google Shape;1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025" y="1490663"/>
            <a:ext cx="6677524" cy="30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QLoRA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597300" y="1600500"/>
            <a:ext cx="44835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Quantized Low-Rank Adapter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Combina cuantización + LoRA para reducir memoria y coste computacional.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Permite hacer fine-tuning completo de modelos muy grandes (13B, 65B...) en una sola GPU.</a:t>
            </a:r>
            <a:endParaRPr/>
          </a:p>
        </p:txBody>
      </p:sp>
      <p:pic>
        <p:nvPicPr>
          <p:cNvPr id="128" name="Google Shape;12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100" y="1123288"/>
            <a:ext cx="3593376" cy="357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3ed4f3a37_1_237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QLoRA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34" name="Google Shape;134;g353ed4f3a37_1_237"/>
          <p:cNvSpPr txBox="1"/>
          <p:nvPr>
            <p:ph idx="1" type="body"/>
          </p:nvPr>
        </p:nvSpPr>
        <p:spPr>
          <a:xfrm>
            <a:off x="597300" y="1600500"/>
            <a:ext cx="44835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El modelo base se convierte a un formato comprimido de 2/4/8/16 bits (normal float 2/4/8/16).</a:t>
            </a:r>
            <a:br>
              <a:rPr lang="es"/>
            </a:b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Esto reduce la memoria sin afectar mucho la calidad.</a:t>
            </a:r>
            <a:br>
              <a:rPr lang="es"/>
            </a:b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No se modifica el modelo original.</a:t>
            </a:r>
            <a:endParaRPr/>
          </a:p>
        </p:txBody>
      </p:sp>
      <p:pic>
        <p:nvPicPr>
          <p:cNvPr id="135" name="Google Shape;135;g353ed4f3a37_1_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200" y="1420938"/>
            <a:ext cx="3570163" cy="357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3ed4f3a37_1_15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Instruct Tuning Llama con QLoRA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41" name="Google Shape;141;g353ed4f3a37_1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3ed4f3a37_1_1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