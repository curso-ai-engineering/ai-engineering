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Robot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6" roundtripDataSignature="AMtx7mjG/gnOudeBmr+CkA+JtULcu9dK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30B1C34-DC3F-476F-A37A-C026C803DC2F}">
  <a:tblStyle styleId="{B30B1C34-DC3F-476F-A37A-C026C803DC2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oboto-regular.fntdata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font" Target="fonts/Roboto-italic.fntdata"/><Relationship Id="rId21" Type="http://schemas.openxmlformats.org/officeDocument/2006/relationships/slide" Target="slides/slide15.xml"/><Relationship Id="rId43" Type="http://schemas.openxmlformats.org/officeDocument/2006/relationships/font" Target="fonts/Roboto-bold.fntdata"/><Relationship Id="rId24" Type="http://schemas.openxmlformats.org/officeDocument/2006/relationships/slide" Target="slides/slide18.xml"/><Relationship Id="rId46" Type="http://customschemas.google.com/relationships/presentationmetadata" Target="metadata"/><Relationship Id="rId23" Type="http://schemas.openxmlformats.org/officeDocument/2006/relationships/slide" Target="slides/slide17.xml"/><Relationship Id="rId45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553aadb8c5_0_1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553aadb8c5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53aadb8c5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553aadb8c5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53aadb8c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553aadb8c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53aadb8c5_0_3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553aadb8c5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553aadb8c5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553aadb8c5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53aadb8c5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553aadb8c5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553aadb8c5_0_3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553aadb8c5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53aadb8c5_0_4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553aadb8c5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553aadb8c5_0_3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553aadb8c5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53aadb8c5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553aadb8c5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553aadb8c5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553aadb8c5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53aadb8c5_0_4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553aadb8c5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5b8c238d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5b8c238d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5b8c238d7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5b8c238d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7596da2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g357596da2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53aadb8c5_0_1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g3553aadb8c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" type="title">
  <p:cSld name="TITLE">
    <p:bg>
      <p:bgPr>
        <a:solidFill>
          <a:srgbClr val="1D1D30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g3553aadb8c5_0_3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g3553aadb8c5_0_3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3553aadb8c5_0_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2" name="Google Shape;12;g3553aadb8c5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Título y texto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553aadb8c5_0_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553aadb8c5_0_8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solidFill>
          <a:srgbClr val="1D1D3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g3553aadb8c5_0_11" title="KeepcodingColores_RGB 1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3050" y="1453825"/>
            <a:ext cx="7480150" cy="221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g3553aadb8c5_0_11"/>
          <p:cNvSpPr/>
          <p:nvPr/>
        </p:nvSpPr>
        <p:spPr>
          <a:xfrm>
            <a:off x="25" y="4866050"/>
            <a:ext cx="9144000" cy="277500"/>
          </a:xfrm>
          <a:prstGeom prst="rect">
            <a:avLst/>
          </a:prstGeom>
          <a:solidFill>
            <a:srgbClr val="1D1D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" name="Google Shape;19;g3553aadb8c5_0_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0498" y="4893923"/>
            <a:ext cx="221751" cy="221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g3553aadb8c5_0_11"/>
          <p:cNvSpPr txBox="1"/>
          <p:nvPr/>
        </p:nvSpPr>
        <p:spPr>
          <a:xfrm>
            <a:off x="1802250" y="4866063"/>
            <a:ext cx="1308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g3553aadb8c5_0_11"/>
          <p:cNvSpPr txBox="1"/>
          <p:nvPr/>
        </p:nvSpPr>
        <p:spPr>
          <a:xfrm>
            <a:off x="3823325" y="4866050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cursos@keepcoding.io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g3553aadb8c5_0_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1575" y="4893925"/>
            <a:ext cx="221750" cy="22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g3553aadb8c5_0_11"/>
          <p:cNvSpPr txBox="1"/>
          <p:nvPr/>
        </p:nvSpPr>
        <p:spPr>
          <a:xfrm>
            <a:off x="5967675" y="4866025"/>
            <a:ext cx="14979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chemeClr val="lt1"/>
                </a:solidFill>
                <a:highlight>
                  <a:srgbClr val="161625"/>
                </a:highlight>
                <a:latin typeface="Arial"/>
                <a:ea typeface="Arial"/>
                <a:cs typeface="Arial"/>
                <a:sym typeface="Arial"/>
              </a:rPr>
              <a:t>(+34) 916 33 1779</a:t>
            </a:r>
            <a:endParaRPr b="0" i="0" sz="1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g3553aadb8c5_0_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83875" y="4893938"/>
            <a:ext cx="221750" cy="22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lantilla Vacía">
  <p:cSld name="Plantilla Vacía">
    <p:bg>
      <p:bgPr>
        <a:solidFill>
          <a:srgbClr val="1D1D3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553aadb8c5_0_20"/>
          <p:cNvSpPr txBox="1"/>
          <p:nvPr>
            <p:ph idx="12" type="sldNum"/>
          </p:nvPr>
        </p:nvSpPr>
        <p:spPr>
          <a:xfrm>
            <a:off x="8404958" y="45573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7" name="Google Shape;27;g3553aadb8c5_0_20"/>
          <p:cNvSpPr txBox="1"/>
          <p:nvPr>
            <p:ph type="ctrTitle"/>
          </p:nvPr>
        </p:nvSpPr>
        <p:spPr>
          <a:xfrm>
            <a:off x="311708" y="5692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g3553aadb8c5_0_20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g3553aadb8c5_0_20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553aadb8c5_0_20"/>
          <p:cNvSpPr txBox="1"/>
          <p:nvPr/>
        </p:nvSpPr>
        <p:spPr>
          <a:xfrm>
            <a:off x="3094950" y="3234100"/>
            <a:ext cx="2954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boto"/>
              <a:buNone/>
            </a:pPr>
            <a:r>
              <a:rPr b="1" i="0" lang="es" sz="3400" u="none" cap="none" strike="noStrike">
                <a:solidFill>
                  <a:srgbClr val="F6FE8C"/>
                </a:solidFill>
                <a:latin typeface="Arial"/>
                <a:ea typeface="Arial"/>
                <a:cs typeface="Arial"/>
                <a:sym typeface="Arial"/>
              </a:rPr>
              <a:t>Subtítulo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acía">
  <p:cSld name="Vacía">
    <p:bg>
      <p:bgPr>
        <a:solidFill>
          <a:srgbClr val="1D1D3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553aadb8c5_0_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">
  <p:cSld name="1_Título y texto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553aadb8c5_0_29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553aadb8c5_0_29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553aadb8c5_0_32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39" name="Google Shape;39;g3553aadb8c5_0_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1">
  <p:cSld name="CUSTOM_1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553aadb8c5_0_35"/>
          <p:cNvSpPr txBox="1"/>
          <p:nvPr>
            <p:ph type="title"/>
          </p:nvPr>
        </p:nvSpPr>
        <p:spPr>
          <a:xfrm>
            <a:off x="616500" y="368825"/>
            <a:ext cx="6484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g3553aadb8c5_0_35"/>
          <p:cNvSpPr txBox="1"/>
          <p:nvPr>
            <p:ph idx="1" type="body"/>
          </p:nvPr>
        </p:nvSpPr>
        <p:spPr>
          <a:xfrm>
            <a:off x="503750" y="1514750"/>
            <a:ext cx="7873200" cy="30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1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553aadb8c5_0_39"/>
          <p:cNvSpPr txBox="1"/>
          <p:nvPr>
            <p:ph type="ctrTitle"/>
          </p:nvPr>
        </p:nvSpPr>
        <p:spPr>
          <a:xfrm>
            <a:off x="616503" y="1125575"/>
            <a:ext cx="55149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300"/>
              <a:buNone/>
              <a:defRPr sz="43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46" name="Google Shape;46;g3553aadb8c5_0_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 2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 Azul 1">
  <p:cSld name="TITLE_1_1">
    <p:bg>
      <p:bgPr>
        <a:solidFill>
          <a:srgbClr val="1D1D30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g3553aadb8c5_0_109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553aadb8c5_0_109"/>
          <p:cNvSpPr txBox="1"/>
          <p:nvPr>
            <p:ph type="ctrTitle"/>
          </p:nvPr>
        </p:nvSpPr>
        <p:spPr>
          <a:xfrm>
            <a:off x="311708" y="6572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Arial"/>
              <a:buNone/>
              <a:defRPr b="1" i="0" sz="5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1" i="0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553aadb8c5_0_10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D3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D1D3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52" name="Google Shape;52;g3553aadb8c5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D1D3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g3553aadb8c5_0_0"/>
          <p:cNvPicPr preferRelativeResize="0"/>
          <p:nvPr/>
        </p:nvPicPr>
        <p:blipFill rotWithShape="1">
          <a:blip r:embed="rId1">
            <a:alphaModFix amt="30000"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g3553aadb8c5_0_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560050" y="263475"/>
            <a:ext cx="1340680" cy="2694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3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png"/><Relationship Id="rId4" Type="http://schemas.openxmlformats.org/officeDocument/2006/relationships/hyperlink" Target="https://github.com/ericrisco/deep-js-research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ithub.com/Shubhamsaboo/awesome-llm-apps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53aadb8c5_0_178"/>
          <p:cNvSpPr/>
          <p:nvPr/>
        </p:nvSpPr>
        <p:spPr>
          <a:xfrm>
            <a:off x="1345800" y="2160100"/>
            <a:ext cx="6217500" cy="1074000"/>
          </a:xfrm>
          <a:prstGeom prst="rect">
            <a:avLst/>
          </a:prstGeom>
          <a:solidFill>
            <a:srgbClr val="FF7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g3553aadb8c5_0_178"/>
          <p:cNvSpPr txBox="1"/>
          <p:nvPr>
            <p:ph idx="1" type="subTitle"/>
          </p:nvPr>
        </p:nvSpPr>
        <p:spPr>
          <a:xfrm>
            <a:off x="1943550" y="2300800"/>
            <a:ext cx="502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4400"/>
              <a:t>AI ENGINEERING</a:t>
            </a:r>
            <a:endParaRPr sz="4400"/>
          </a:p>
        </p:txBody>
      </p:sp>
      <p:sp>
        <p:nvSpPr>
          <p:cNvPr id="59" name="Google Shape;59;g3553aadb8c5_0_178"/>
          <p:cNvSpPr txBox="1"/>
          <p:nvPr>
            <p:ph idx="1" type="subTitle"/>
          </p:nvPr>
        </p:nvSpPr>
        <p:spPr>
          <a:xfrm>
            <a:off x="1345800" y="3234100"/>
            <a:ext cx="6217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 sz="3000">
                <a:solidFill>
                  <a:srgbClr val="F6FE8C"/>
                </a:solidFill>
              </a:rPr>
              <a:t>Agents</a:t>
            </a:r>
            <a:endParaRPr sz="3000">
              <a:solidFill>
                <a:srgbClr val="F6FE8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Agentes de IA</a:t>
            </a:r>
            <a:endParaRPr/>
          </a:p>
        </p:txBody>
      </p:sp>
      <p:sp>
        <p:nvSpPr>
          <p:cNvPr id="65" name="Google Shape;65;p3"/>
          <p:cNvSpPr txBox="1"/>
          <p:nvPr>
            <p:ph idx="1" type="body"/>
          </p:nvPr>
        </p:nvSpPr>
        <p:spPr>
          <a:xfrm>
            <a:off x="628650" y="1605725"/>
            <a:ext cx="51729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Un agente utiliza modelos de lenguaje para seleccionar y ordenar secuencias de acciones.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Utiliza el razonamiento del modelo de lenguaje para decidir acciones y su secuencia.</a:t>
            </a:r>
            <a:br>
              <a:rPr lang="es"/>
            </a:b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Actúa como un motor de razonamiento, determinando acciones basadas en contexto y objetivos.</a:t>
            </a:r>
            <a:endParaRPr/>
          </a:p>
        </p:txBody>
      </p:sp>
      <p:pic>
        <p:nvPicPr>
          <p:cNvPr id="66" name="Google Shape;6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5900" y="1605725"/>
            <a:ext cx="2774300" cy="281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53aadb8c5_0_245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7777"/>
              <a:buFont typeface="Arial"/>
              <a:buNone/>
            </a:pPr>
            <a:r>
              <a:rPr lang="es"/>
              <a:t>No es una automatización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graphicFrame>
        <p:nvGraphicFramePr>
          <p:cNvPr id="72" name="Google Shape;72;g3553aadb8c5_0_245"/>
          <p:cNvGraphicFramePr/>
          <p:nvPr/>
        </p:nvGraphicFramePr>
        <p:xfrm>
          <a:off x="485200" y="143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{B30B1C34-DC3F-476F-A37A-C026C803DC2F}</a:tableStyleId>
              </a:tblPr>
              <a:tblGrid>
                <a:gridCol w="1226425"/>
                <a:gridCol w="3442750"/>
                <a:gridCol w="3560700"/>
              </a:tblGrid>
              <a:tr h="286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t/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Automatización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Agente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Definición</a:t>
                      </a:r>
                      <a:endParaRPr b="1" sz="13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Secuencia fija de pasos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Entidad que decide qué hacer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Adaptabilidad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Ninguna, Siempre igual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Alta, se adapta al contexto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Input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Cerrado y predefinido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Abierto, puede consultar y preguntar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Ejemplo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Si llega email =&gt; Guarda y responde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Organiza tu agenda según inputs / prios / etc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Flujo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Lineal y determinista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Iterativo, reactivo y orientado a objetivos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Razonamiento?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En el flujo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Más abierto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  <a:tr h="413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" sz="1300">
                          <a:latin typeface="Roboto"/>
                          <a:ea typeface="Roboto"/>
                          <a:cs typeface="Roboto"/>
                          <a:sym typeface="Roboto"/>
                        </a:rPr>
                        <a:t>Ideal</a:t>
                      </a:r>
                      <a:endParaRPr b="1"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874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Tareas repetitivas y predecibles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100"/>
                        <a:t>Problemas abiertos</a:t>
                      </a:r>
                      <a:endParaRPr sz="1100"/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5502" y="694500"/>
            <a:ext cx="5532976" cy="4265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Prompt Engineering</a:t>
            </a:r>
            <a:endParaRPr/>
          </a:p>
        </p:txBody>
      </p:sp>
      <p:sp>
        <p:nvSpPr>
          <p:cNvPr id="83" name="Google Shape;83;p5"/>
          <p:cNvSpPr txBox="1"/>
          <p:nvPr>
            <p:ph idx="1" type="body"/>
          </p:nvPr>
        </p:nvSpPr>
        <p:spPr>
          <a:xfrm>
            <a:off x="628650" y="1605725"/>
            <a:ext cx="52929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La base del comportamiento de un agente la marca el prompting.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Un Prompt para ser efectivo debe ser claro, conciso y con la tarea bien definida.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Un Prompt largo, con muchas instrucciones, puede llevar a respuestas inesperadas y/o inexactas.</a:t>
            </a:r>
            <a:endParaRPr/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2275" y="1604837"/>
            <a:ext cx="2582900" cy="193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System prompts</a:t>
            </a:r>
            <a:endParaRPr/>
          </a:p>
        </p:txBody>
      </p:sp>
      <p:sp>
        <p:nvSpPr>
          <p:cNvPr id="90" name="Google Shape;90;p6"/>
          <p:cNvSpPr txBox="1"/>
          <p:nvPr>
            <p:ph idx="1" type="body"/>
          </p:nvPr>
        </p:nvSpPr>
        <p:spPr>
          <a:xfrm>
            <a:off x="628650" y="1605725"/>
            <a:ext cx="50580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Un agente puede comportarse de diferentes maneras. Su comportamiento vendrá dado por el Prompt del Sistema.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Puede tener una lista de Prompts del Sistema.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Para elegir qué Prompt del Sistema debe actuar, se puede tener un sistema que pueda elegir la mejor forma de actuar.</a:t>
            </a:r>
            <a:endParaRPr/>
          </a:p>
        </p:txBody>
      </p:sp>
      <p:pic>
        <p:nvPicPr>
          <p:cNvPr id="91" name="Google Shape;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4625" y="1724875"/>
            <a:ext cx="2914575" cy="2041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/>
          <p:nvPr/>
        </p:nvSpPr>
        <p:spPr>
          <a:xfrm>
            <a:off x="349850" y="1351925"/>
            <a:ext cx="8449200" cy="260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Prompt Orchestration</a:t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485963" y="2533163"/>
            <a:ext cx="912900" cy="405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763525" y="2176615"/>
            <a:ext cx="1119000" cy="1119000"/>
          </a:xfrm>
          <a:prstGeom prst="ellipse">
            <a:avLst/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116138" y="1680675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 P1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116138" y="2249000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 P2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116138" y="2817325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 P3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116138" y="3385650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 P4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369238" y="1924038"/>
            <a:ext cx="969000" cy="146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System P1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RAG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Memory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768094" y="2317501"/>
            <a:ext cx="659400" cy="674700"/>
          </a:xfrm>
          <a:prstGeom prst="ellipse">
            <a:avLst/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6" name="Google Shape;106;p7"/>
          <p:cNvCxnSpPr>
            <a:stCxn id="99" idx="7"/>
            <a:endCxn id="100" idx="1"/>
          </p:cNvCxnSpPr>
          <p:nvPr/>
        </p:nvCxnSpPr>
        <p:spPr>
          <a:xfrm flipH="1" rot="10800000">
            <a:off x="3718651" y="1883589"/>
            <a:ext cx="397500" cy="456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7" name="Google Shape;107;p7"/>
          <p:cNvCxnSpPr>
            <a:stCxn id="99" idx="6"/>
            <a:endCxn id="101" idx="1"/>
          </p:cNvCxnSpPr>
          <p:nvPr/>
        </p:nvCxnSpPr>
        <p:spPr>
          <a:xfrm flipH="1" rot="10800000">
            <a:off x="3882525" y="2452015"/>
            <a:ext cx="233700" cy="28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8" name="Google Shape;108;p7"/>
          <p:cNvCxnSpPr>
            <a:stCxn id="99" idx="6"/>
            <a:endCxn id="102" idx="1"/>
          </p:cNvCxnSpPr>
          <p:nvPr/>
        </p:nvCxnSpPr>
        <p:spPr>
          <a:xfrm>
            <a:off x="3882525" y="2736115"/>
            <a:ext cx="233700" cy="28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9" name="Google Shape;109;p7"/>
          <p:cNvCxnSpPr>
            <a:stCxn id="99" idx="5"/>
            <a:endCxn id="103" idx="1"/>
          </p:cNvCxnSpPr>
          <p:nvPr/>
        </p:nvCxnSpPr>
        <p:spPr>
          <a:xfrm>
            <a:off x="3718651" y="3131741"/>
            <a:ext cx="397500" cy="456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0" name="Google Shape;110;p7"/>
          <p:cNvCxnSpPr>
            <a:stCxn id="100" idx="3"/>
            <a:endCxn id="104" idx="1"/>
          </p:cNvCxnSpPr>
          <p:nvPr/>
        </p:nvCxnSpPr>
        <p:spPr>
          <a:xfrm>
            <a:off x="5085138" y="1883625"/>
            <a:ext cx="284100" cy="771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1" name="Google Shape;111;p7"/>
          <p:cNvCxnSpPr>
            <a:stCxn id="104" idx="3"/>
            <a:endCxn id="105" idx="2"/>
          </p:cNvCxnSpPr>
          <p:nvPr/>
        </p:nvCxnSpPr>
        <p:spPr>
          <a:xfrm>
            <a:off x="6338238" y="2654838"/>
            <a:ext cx="42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2" name="Google Shape;112;p7"/>
          <p:cNvSpPr/>
          <p:nvPr/>
        </p:nvSpPr>
        <p:spPr>
          <a:xfrm>
            <a:off x="7745138" y="2451901"/>
            <a:ext cx="912900" cy="405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" name="Google Shape;113;p7"/>
          <p:cNvCxnSpPr>
            <a:stCxn id="105" idx="6"/>
            <a:endCxn id="112" idx="1"/>
          </p:cNvCxnSpPr>
          <p:nvPr/>
        </p:nvCxnSpPr>
        <p:spPr>
          <a:xfrm>
            <a:off x="7427494" y="2654851"/>
            <a:ext cx="317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4" name="Google Shape;114;p7"/>
          <p:cNvSpPr/>
          <p:nvPr/>
        </p:nvSpPr>
        <p:spPr>
          <a:xfrm>
            <a:off x="1591788" y="2533163"/>
            <a:ext cx="9381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Orchestration Prompt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7"/>
          <p:cNvCxnSpPr>
            <a:stCxn id="98" idx="3"/>
            <a:endCxn id="114" idx="1"/>
          </p:cNvCxnSpPr>
          <p:nvPr/>
        </p:nvCxnSpPr>
        <p:spPr>
          <a:xfrm>
            <a:off x="1398863" y="2736113"/>
            <a:ext cx="192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7"/>
          <p:cNvCxnSpPr>
            <a:stCxn id="114" idx="3"/>
            <a:endCxn id="99" idx="2"/>
          </p:cNvCxnSpPr>
          <p:nvPr/>
        </p:nvCxnSpPr>
        <p:spPr>
          <a:xfrm>
            <a:off x="2529888" y="2736113"/>
            <a:ext cx="23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7" name="Google Shape;117;p7"/>
          <p:cNvSpPr txBox="1"/>
          <p:nvPr/>
        </p:nvSpPr>
        <p:spPr>
          <a:xfrm>
            <a:off x="4044938" y="1351925"/>
            <a:ext cx="292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Prompt DB</a:t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553aadb8c5_0_291"/>
          <p:cNvSpPr/>
          <p:nvPr/>
        </p:nvSpPr>
        <p:spPr>
          <a:xfrm>
            <a:off x="349850" y="1351925"/>
            <a:ext cx="8449200" cy="260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553aadb8c5_0_29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Prompt Orchestration</a:t>
            </a:r>
            <a:endParaRPr/>
          </a:p>
        </p:txBody>
      </p:sp>
      <p:sp>
        <p:nvSpPr>
          <p:cNvPr id="124" name="Google Shape;124;g3553aadb8c5_0_291"/>
          <p:cNvSpPr/>
          <p:nvPr/>
        </p:nvSpPr>
        <p:spPr>
          <a:xfrm>
            <a:off x="485963" y="2533163"/>
            <a:ext cx="912900" cy="405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Prompt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553aadb8c5_0_291"/>
          <p:cNvSpPr/>
          <p:nvPr/>
        </p:nvSpPr>
        <p:spPr>
          <a:xfrm>
            <a:off x="2763525" y="2176615"/>
            <a:ext cx="1119000" cy="1119000"/>
          </a:xfrm>
          <a:prstGeom prst="ellipse">
            <a:avLst/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g3553aadb8c5_0_291"/>
          <p:cNvSpPr/>
          <p:nvPr/>
        </p:nvSpPr>
        <p:spPr>
          <a:xfrm>
            <a:off x="4116138" y="1680675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Order status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g3553aadb8c5_0_291"/>
          <p:cNvSpPr/>
          <p:nvPr/>
        </p:nvSpPr>
        <p:spPr>
          <a:xfrm>
            <a:off x="4116138" y="2249000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Product Information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g3553aadb8c5_0_291"/>
          <p:cNvSpPr/>
          <p:nvPr/>
        </p:nvSpPr>
        <p:spPr>
          <a:xfrm>
            <a:off x="4116138" y="2817325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000">
                <a:latin typeface="Roboto"/>
                <a:ea typeface="Roboto"/>
                <a:cs typeface="Roboto"/>
                <a:sym typeface="Roboto"/>
              </a:rPr>
              <a:t>Order Cancellation</a:t>
            </a:r>
            <a:endParaRPr b="0" i="0" sz="1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g3553aadb8c5_0_291"/>
          <p:cNvSpPr/>
          <p:nvPr/>
        </p:nvSpPr>
        <p:spPr>
          <a:xfrm>
            <a:off x="4116138" y="3385650"/>
            <a:ext cx="9690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Support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" name="Google Shape;130;g3553aadb8c5_0_291"/>
          <p:cNvSpPr/>
          <p:nvPr/>
        </p:nvSpPr>
        <p:spPr>
          <a:xfrm>
            <a:off x="5369238" y="1924038"/>
            <a:ext cx="969000" cy="1461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100">
                <a:latin typeface="Roboto"/>
                <a:ea typeface="Roboto"/>
                <a:cs typeface="Roboto"/>
                <a:sym typeface="Roboto"/>
              </a:rPr>
              <a:t>Order Status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RAG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b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Memory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g3553aadb8c5_0_291"/>
          <p:cNvSpPr/>
          <p:nvPr/>
        </p:nvSpPr>
        <p:spPr>
          <a:xfrm>
            <a:off x="6768094" y="2317501"/>
            <a:ext cx="659400" cy="674700"/>
          </a:xfrm>
          <a:prstGeom prst="ellipse">
            <a:avLst/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LLM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" name="Google Shape;132;g3553aadb8c5_0_291"/>
          <p:cNvCxnSpPr>
            <a:stCxn id="125" idx="7"/>
            <a:endCxn id="126" idx="1"/>
          </p:cNvCxnSpPr>
          <p:nvPr/>
        </p:nvCxnSpPr>
        <p:spPr>
          <a:xfrm flipH="1" rot="10800000">
            <a:off x="3718651" y="1883589"/>
            <a:ext cx="397500" cy="456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g3553aadb8c5_0_291"/>
          <p:cNvCxnSpPr>
            <a:stCxn id="125" idx="6"/>
            <a:endCxn id="127" idx="1"/>
          </p:cNvCxnSpPr>
          <p:nvPr/>
        </p:nvCxnSpPr>
        <p:spPr>
          <a:xfrm flipH="1" rot="10800000">
            <a:off x="3882525" y="2452015"/>
            <a:ext cx="233700" cy="28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g3553aadb8c5_0_291"/>
          <p:cNvCxnSpPr>
            <a:stCxn id="125" idx="6"/>
            <a:endCxn id="128" idx="1"/>
          </p:cNvCxnSpPr>
          <p:nvPr/>
        </p:nvCxnSpPr>
        <p:spPr>
          <a:xfrm>
            <a:off x="3882525" y="2736115"/>
            <a:ext cx="233700" cy="2841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5" name="Google Shape;135;g3553aadb8c5_0_291"/>
          <p:cNvCxnSpPr>
            <a:stCxn id="125" idx="5"/>
            <a:endCxn id="129" idx="1"/>
          </p:cNvCxnSpPr>
          <p:nvPr/>
        </p:nvCxnSpPr>
        <p:spPr>
          <a:xfrm>
            <a:off x="3718651" y="3131741"/>
            <a:ext cx="397500" cy="4569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6" name="Google Shape;136;g3553aadb8c5_0_291"/>
          <p:cNvCxnSpPr>
            <a:stCxn id="126" idx="3"/>
            <a:endCxn id="130" idx="1"/>
          </p:cNvCxnSpPr>
          <p:nvPr/>
        </p:nvCxnSpPr>
        <p:spPr>
          <a:xfrm>
            <a:off x="5085138" y="1883625"/>
            <a:ext cx="284100" cy="771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g3553aadb8c5_0_291"/>
          <p:cNvCxnSpPr>
            <a:stCxn id="130" idx="3"/>
            <a:endCxn id="131" idx="2"/>
          </p:cNvCxnSpPr>
          <p:nvPr/>
        </p:nvCxnSpPr>
        <p:spPr>
          <a:xfrm>
            <a:off x="6338238" y="2654838"/>
            <a:ext cx="42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8" name="Google Shape;138;g3553aadb8c5_0_291"/>
          <p:cNvSpPr/>
          <p:nvPr/>
        </p:nvSpPr>
        <p:spPr>
          <a:xfrm>
            <a:off x="7745138" y="2451901"/>
            <a:ext cx="912900" cy="405900"/>
          </a:xfrm>
          <a:prstGeom prst="roundRect">
            <a:avLst>
              <a:gd fmla="val 16667" name="adj"/>
            </a:avLst>
          </a:prstGeom>
          <a:solidFill>
            <a:srgbClr val="F8743B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Response</a:t>
            </a:r>
            <a:endParaRPr b="0" i="0" sz="11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9" name="Google Shape;139;g3553aadb8c5_0_291"/>
          <p:cNvCxnSpPr>
            <a:stCxn id="131" idx="6"/>
            <a:endCxn id="138" idx="1"/>
          </p:cNvCxnSpPr>
          <p:nvPr/>
        </p:nvCxnSpPr>
        <p:spPr>
          <a:xfrm>
            <a:off x="7427494" y="2654851"/>
            <a:ext cx="317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0" name="Google Shape;140;g3553aadb8c5_0_291"/>
          <p:cNvSpPr/>
          <p:nvPr/>
        </p:nvSpPr>
        <p:spPr>
          <a:xfrm>
            <a:off x="1591788" y="2533163"/>
            <a:ext cx="938100" cy="4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Orchestration Prompt</a:t>
            </a:r>
            <a:endParaRPr b="0"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1" name="Google Shape;141;g3553aadb8c5_0_291"/>
          <p:cNvCxnSpPr>
            <a:stCxn id="124" idx="3"/>
            <a:endCxn id="140" idx="1"/>
          </p:cNvCxnSpPr>
          <p:nvPr/>
        </p:nvCxnSpPr>
        <p:spPr>
          <a:xfrm>
            <a:off x="1398863" y="2736113"/>
            <a:ext cx="192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g3553aadb8c5_0_291"/>
          <p:cNvCxnSpPr>
            <a:stCxn id="140" idx="3"/>
            <a:endCxn id="125" idx="2"/>
          </p:cNvCxnSpPr>
          <p:nvPr/>
        </p:nvCxnSpPr>
        <p:spPr>
          <a:xfrm>
            <a:off x="2529888" y="2736113"/>
            <a:ext cx="2337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g3553aadb8c5_0_291"/>
          <p:cNvSpPr txBox="1"/>
          <p:nvPr/>
        </p:nvSpPr>
        <p:spPr>
          <a:xfrm>
            <a:off x="4044938" y="1351925"/>
            <a:ext cx="2921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Prompt DB</a:t>
            </a:r>
            <a:endParaRPr b="0" i="0" sz="12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553aadb8c5_0_291"/>
          <p:cNvSpPr txBox="1"/>
          <p:nvPr/>
        </p:nvSpPr>
        <p:spPr>
          <a:xfrm>
            <a:off x="485975" y="1502100"/>
            <a:ext cx="1571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s" sz="18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Tienda online</a:t>
            </a:r>
            <a:endParaRPr b="0" i="0" sz="18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g3553aadb8c5_0_291"/>
          <p:cNvSpPr txBox="1"/>
          <p:nvPr/>
        </p:nvSpPr>
        <p:spPr>
          <a:xfrm>
            <a:off x="460900" y="2857810"/>
            <a:ext cx="104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 want to </a:t>
            </a:r>
            <a:r>
              <a:rPr lang="es" sz="12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get</a:t>
            </a:r>
            <a:r>
              <a:rPr b="0" i="0" lang="es" sz="1200" u="none" cap="none" strike="noStrike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 my order information</a:t>
            </a:r>
            <a:endParaRPr b="0" i="0" sz="1200" u="none" cap="none" strike="noStrike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553aadb8c5_0_31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Prompt Orchestration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151" name="Google Shape;151;g3553aadb8c5_0_3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La memoria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628650" y="1605725"/>
            <a:ext cx="49482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En una interacción con un agente, necesitamos que sea como una conversación.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Necesitamos memoria.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Podemos usar bases de datos para guardar toda la interacción que tiene el usuario con el sistema.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Esto puede suponer un problema para la ventana de contexto y por el coste añadido a cada prompt.</a:t>
            </a:r>
            <a:endParaRPr/>
          </a:p>
        </p:txBody>
      </p:sp>
      <p:pic>
        <p:nvPicPr>
          <p:cNvPr id="158" name="Google Shape;1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2774" y="1607950"/>
            <a:ext cx="3088475" cy="182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¿Cómo lo solucionamos?</a:t>
            </a:r>
            <a:endParaRPr/>
          </a:p>
        </p:txBody>
      </p:sp>
      <p:sp>
        <p:nvSpPr>
          <p:cNvPr id="164" name="Google Shape;164;p11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Utilizamos técnicas de NLP para eliminar palabras que no tienen relevancia en el contexto.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Utilizamos un LLM para resumir cada interacción y la guardamos en la base de datos.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Guardamos solo las últimas X interacciones.</a:t>
            </a:r>
            <a:br>
              <a:rPr lang="es"/>
            </a:b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Guardamos las interacciones en bases de datos vectoriales y para cada solicitud solo recuperamos la memoria relevante.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Functions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70" name="Google Shape;170;p12"/>
          <p:cNvSpPr txBox="1"/>
          <p:nvPr>
            <p:ph idx="1" type="body"/>
          </p:nvPr>
        </p:nvSpPr>
        <p:spPr>
          <a:xfrm>
            <a:off x="628650" y="1605725"/>
            <a:ext cx="46140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Mecanismo que ha implementado OpenAI en su API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Permite a modelos LLM generar JSON para interactuar con funciones externas.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Transforma consultas en llamadas de función específicas. No ejecuta acciones directamente.</a:t>
            </a:r>
            <a:br>
              <a:rPr lang="es"/>
            </a:b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Desde enviar correos electrónicos hasta obtener datos meteorológicos.</a:t>
            </a:r>
            <a:endParaRPr/>
          </a:p>
        </p:txBody>
      </p:sp>
      <p:pic>
        <p:nvPicPr>
          <p:cNvPr id="171" name="Google Shape;17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8525" y="1607988"/>
            <a:ext cx="3431775" cy="19275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Tools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77" name="Google Shape;177;p13"/>
          <p:cNvSpPr txBox="1"/>
          <p:nvPr>
            <p:ph idx="1" type="body"/>
          </p:nvPr>
        </p:nvSpPr>
        <p:spPr>
          <a:xfrm>
            <a:off x="628650" y="1605725"/>
            <a:ext cx="47550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Interfícies que permiten a agentes o LLMs interactuar con el mundo, actuando como puentes entre datos y acción.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Facilita la creación de sistemas que toman acciones, permitiendo a los LLMs especificar y realizar acciones basadas en instrucciones claras.</a:t>
            </a:r>
            <a:endParaRPr/>
          </a:p>
        </p:txBody>
      </p:sp>
      <p:pic>
        <p:nvPicPr>
          <p:cNvPr id="178" name="Google Shape;1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9825" y="1465949"/>
            <a:ext cx="3125050" cy="232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Reflection/Self-critique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184" name="Google Shape;184;p14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Mejorar la calidad de los outputs mediante la revisión y validación interna y externa de los resultados del sistema.</a:t>
            </a:r>
            <a:br>
              <a:rPr lang="es"/>
            </a:b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Reflexión Básica: Incorporar un paso de "reflexión" para que el sistema revise sus propias respuestas.</a:t>
            </a:r>
            <a:br>
              <a:rPr lang="es"/>
            </a:b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s"/>
              <a:t>Reflexión Crítica: Evaluar los aspectos ausentes o superfluos en las respuestas del agente para guiar los pasos subsiguientes.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201" y="833925"/>
            <a:ext cx="6142100" cy="371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475" y="764475"/>
            <a:ext cx="6098877" cy="402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5950" y="668400"/>
            <a:ext cx="5932099" cy="3918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Agent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205" name="Google Shape;2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700" y="1187025"/>
            <a:ext cx="8034601" cy="318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500" y="1268550"/>
            <a:ext cx="6995325" cy="3361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6950" y="2975100"/>
            <a:ext cx="1315599" cy="1315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ReAct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 txBox="1"/>
          <p:nvPr>
            <p:ph idx="1" type="body"/>
          </p:nvPr>
        </p:nvSpPr>
        <p:spPr>
          <a:xfrm>
            <a:off x="628650" y="1605725"/>
            <a:ext cx="51309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5882"/>
              <a:buNone/>
            </a:pPr>
            <a:r>
              <a:rPr b="1" lang="es"/>
              <a:t>Reasoning &amp; Acting</a:t>
            </a:r>
            <a:endParaRPr b="1"/>
          </a:p>
          <a:p>
            <a:pPr indent="-30861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Optimización de la toma de decisiones y acciones de agentes inteligentes en entornos complejos.</a:t>
            </a:r>
            <a:br>
              <a:rPr lang="es"/>
            </a:b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Divide consultas complejas en subtareas accionables.</a:t>
            </a:r>
            <a:br>
              <a:rPr lang="es"/>
            </a:b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Incorpora información de fuentes externas para realizar tareas, aumentando fiabilidad y precisión.</a:t>
            </a:r>
            <a:br>
              <a:rPr lang="es"/>
            </a:b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Minimiza errores y "alucinaciones" de los LLMs, facilitando la creación de aplicaciones más inteligentes y precisas.</a:t>
            </a:r>
            <a:endParaRPr/>
          </a:p>
        </p:txBody>
      </p:sp>
      <p:pic>
        <p:nvPicPr>
          <p:cNvPr id="219" name="Google Shape;21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975" y="1290988"/>
            <a:ext cx="2864775" cy="312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ReAct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6825" y="1004200"/>
            <a:ext cx="5450346" cy="347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553aadb8c5_0_38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LangGraph</a:t>
            </a:r>
            <a:endParaRPr/>
          </a:p>
        </p:txBody>
      </p:sp>
      <p:sp>
        <p:nvSpPr>
          <p:cNvPr id="231" name="Google Shape;231;g3553aadb8c5_0_389"/>
          <p:cNvSpPr txBox="1"/>
          <p:nvPr>
            <p:ph idx="1" type="body"/>
          </p:nvPr>
        </p:nvSpPr>
        <p:spPr>
          <a:xfrm>
            <a:off x="628650" y="1605725"/>
            <a:ext cx="49482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LangGraph es un framework de código abierto desarrollado por LangChain para construir aplicaciones de IA con agentes que interactúan de forma estructurada y controlada.</a:t>
            </a:r>
            <a:endParaRPr/>
          </a:p>
        </p:txBody>
      </p:sp>
      <p:pic>
        <p:nvPicPr>
          <p:cNvPr id="232" name="Google Shape;232;g3553aadb8c5_0_3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7925" y="1605713"/>
            <a:ext cx="3262350" cy="1835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553aadb8c5_0_39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11"/>
              <a:buNone/>
            </a:pPr>
            <a:r>
              <a:rPr lang="es"/>
              <a:t>¿Cómo funciona?</a:t>
            </a:r>
            <a:endParaRPr/>
          </a:p>
        </p:txBody>
      </p:sp>
      <p:sp>
        <p:nvSpPr>
          <p:cNvPr id="238" name="Google Shape;238;g3553aadb8c5_0_396"/>
          <p:cNvSpPr txBox="1"/>
          <p:nvPr>
            <p:ph idx="1" type="body"/>
          </p:nvPr>
        </p:nvSpPr>
        <p:spPr>
          <a:xfrm>
            <a:off x="628650" y="1605725"/>
            <a:ext cx="42276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Estructura de grafo: Cada nodo representa un agente o acción, y las conexiones definen el flujo de información.</a:t>
            </a:r>
            <a:br>
              <a:rPr lang="es"/>
            </a:b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Gestión de estado: Mantiene el contexto a lo largo de múltiples interacciones, permitiendo que los agentes recuerden y utilicen información previa.</a:t>
            </a:r>
            <a:br>
              <a:rPr lang="es"/>
            </a:br>
            <a:endParaRPr/>
          </a:p>
          <a:p>
            <a:pPr indent="-30861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lang="es"/>
              <a:t>Coordinación de agentes: Orquesta la ejecución de múltiples agentes, asegurando que trabajen juntos de manera eficiente.</a:t>
            </a:r>
            <a:endParaRPr/>
          </a:p>
        </p:txBody>
      </p:sp>
      <p:pic>
        <p:nvPicPr>
          <p:cNvPr id="239" name="Google Shape;239;g3553aadb8c5_0_3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0400" y="1605725"/>
            <a:ext cx="3890924" cy="175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53aadb8c5_0_363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Functions, Tools &amp; Agents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245" name="Google Shape;245;g3553aadb8c5_0_3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553aadb8c5_0_40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Deep JS Research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251" name="Google Shape;251;g3553aadb8c5_0_4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3200" y="1201025"/>
            <a:ext cx="5277601" cy="33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553aadb8c5_0_409"/>
          <p:cNvSpPr txBox="1"/>
          <p:nvPr>
            <p:ph idx="1" type="body"/>
          </p:nvPr>
        </p:nvSpPr>
        <p:spPr>
          <a:xfrm>
            <a:off x="1058700" y="4365450"/>
            <a:ext cx="7026600" cy="4950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u="sng">
                <a:solidFill>
                  <a:schemeClr val="hlink"/>
                </a:solidFill>
                <a:hlinkClick r:id="rId4"/>
              </a:rPr>
              <a:t>https://github.com/ericrisco/deep-js-research</a:t>
            </a:r>
            <a:r>
              <a:rPr b="1" lang="es"/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rPr lang="es"/>
              <a:t>Agentic RAG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7499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pic>
        <p:nvPicPr>
          <p:cNvPr id="258" name="Google Shape;25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8825" y="1487500"/>
            <a:ext cx="2172025" cy="143542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4"/>
          <p:cNvSpPr txBox="1"/>
          <p:nvPr/>
        </p:nvSpPr>
        <p:spPr>
          <a:xfrm>
            <a:off x="1698825" y="2922925"/>
            <a:ext cx="217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Agents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4129550" y="1487500"/>
            <a:ext cx="3296400" cy="28242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-"/>
            </a:pPr>
            <a:r>
              <a:rPr b="0" i="0" lang="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br>
              <a:rPr b="0" i="0" lang="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-"/>
            </a:pPr>
            <a:r>
              <a:rPr b="0" i="0" lang="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Augmentation</a:t>
            </a:r>
            <a:br>
              <a:rPr b="0" i="0" lang="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-"/>
            </a:pPr>
            <a:r>
              <a:rPr b="0" i="0" lang="e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Generation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553aadb8c5_0_36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Agentic RAG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266" name="Google Shape;266;g3553aadb8c5_0_3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553aadb8c5_0_378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SmolAgents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72" name="Google Shape;272;g3553aadb8c5_0_378"/>
          <p:cNvSpPr txBox="1"/>
          <p:nvPr>
            <p:ph idx="1" type="body"/>
          </p:nvPr>
        </p:nvSpPr>
        <p:spPr>
          <a:xfrm>
            <a:off x="628650" y="1605725"/>
            <a:ext cx="39432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90000"/>
              <a:buChar char="-"/>
            </a:pPr>
            <a:r>
              <a:rPr b="1" lang="es"/>
              <a:t>SmolAgents:</a:t>
            </a:r>
            <a:r>
              <a:rPr lang="es"/>
              <a:t> Framework minimalista de Hugging Face para construir agentes de IA que ejecutan acciones en código.</a:t>
            </a:r>
            <a:br>
              <a:rPr lang="es"/>
            </a:br>
            <a:endParaRPr/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b="1" lang="es"/>
              <a:t>CodeAgents:</a:t>
            </a:r>
            <a:r>
              <a:rPr lang="es"/>
              <a:t> Tipo de agente que genera y ejecuta directamente código Python para realizar tareas.</a:t>
            </a:r>
            <a:endParaRPr/>
          </a:p>
        </p:txBody>
      </p:sp>
      <p:pic>
        <p:nvPicPr>
          <p:cNvPr id="273" name="Google Shape;273;g3553aadb8c5_0_3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5975" y="1698200"/>
            <a:ext cx="3229249" cy="2850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9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¿C</a:t>
            </a:r>
            <a:r>
              <a:rPr lang="es"/>
              <a:t>ómo funcionan?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79" name="Google Shape;279;p19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agente recibe una tarea en lenguaje natural.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LLM genera un fragmento de código Python que representa la acción necesaria.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código se ejecuta en un entorno seguro </a:t>
            </a:r>
            <a:br>
              <a:rPr lang="es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El resultado se utiliza para decidir el siguiente paso o finalizar la tarea.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553aadb8c5_0_38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rPr lang="es"/>
              <a:t>¿Cómo funcionan?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7"/>
              <a:buNone/>
            </a:pPr>
            <a:r>
              <a:t/>
            </a:r>
            <a:endParaRPr/>
          </a:p>
        </p:txBody>
      </p:sp>
      <p:sp>
        <p:nvSpPr>
          <p:cNvPr id="285" name="Google Shape;285;g3553aadb8c5_0_384"/>
          <p:cNvSpPr txBox="1"/>
          <p:nvPr>
            <p:ph idx="1" type="body"/>
          </p:nvPr>
        </p:nvSpPr>
        <p:spPr>
          <a:xfrm>
            <a:off x="628650" y="1605734"/>
            <a:ext cx="7886700" cy="30351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s"/>
              <a:t>Eficiencia:</a:t>
            </a:r>
            <a:r>
              <a:rPr lang="es"/>
              <a:t> Reducen el número de pasos y llamadas al modelo en ~30%.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s"/>
              <a:t>Flexibilidad:</a:t>
            </a:r>
            <a:r>
              <a:rPr lang="es"/>
              <a:t> Pueden integrarse con cualquier LLM (OpenAI, Anthropic, Hugging Face, etc.).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s"/>
              <a:t>Simplicidad:</a:t>
            </a:r>
            <a:r>
              <a:rPr lang="es"/>
              <a:t> Framework ligero (~1.000 líneas de código) con mínimas abstracciones.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s"/>
              <a:t>Seguridad:</a:t>
            </a:r>
            <a:r>
              <a:rPr lang="es"/>
              <a:t> Ejecutan código en entornos aislados para evitar riesgos.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553aadb8c5_0_404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SmolAgents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pic>
        <p:nvPicPr>
          <p:cNvPr id="291" name="Google Shape;291;g3553aadb8c5_0_4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940" y="1101491"/>
            <a:ext cx="6559457" cy="4042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5b8c238d7c_0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MANUS</a:t>
            </a:r>
            <a:endParaRPr/>
          </a:p>
        </p:txBody>
      </p:sp>
      <p:pic>
        <p:nvPicPr>
          <p:cNvPr id="297" name="Google Shape;297;g35b8c238d7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338" y="1155038"/>
            <a:ext cx="4179313" cy="3570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5b8c238d7c_0_6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Agents Architecture</a:t>
            </a:r>
            <a:endParaRPr/>
          </a:p>
        </p:txBody>
      </p:sp>
      <p:pic>
        <p:nvPicPr>
          <p:cNvPr id="303" name="Google Shape;303;g35b8c238d7c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850" y="1268538"/>
            <a:ext cx="3519028" cy="3570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57596da2d3_0_0"/>
          <p:cNvSpPr txBox="1"/>
          <p:nvPr>
            <p:ph type="title"/>
          </p:nvPr>
        </p:nvSpPr>
        <p:spPr>
          <a:xfrm>
            <a:off x="628650" y="274638"/>
            <a:ext cx="6836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rPr lang="es" sz="3400"/>
              <a:t>🌟 Awesome LLM Apps</a:t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4"/>
              <a:buFont typeface="Arial"/>
              <a:buNone/>
            </a:pPr>
            <a:r>
              <a:t/>
            </a:r>
            <a:endParaRPr sz="3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sz="3400"/>
          </a:p>
        </p:txBody>
      </p:sp>
      <p:sp>
        <p:nvSpPr>
          <p:cNvPr id="309" name="Google Shape;309;g357596da2d3_0_0"/>
          <p:cNvSpPr txBox="1"/>
          <p:nvPr/>
        </p:nvSpPr>
        <p:spPr>
          <a:xfrm>
            <a:off x="1456875" y="1911225"/>
            <a:ext cx="5508900" cy="400200"/>
          </a:xfrm>
          <a:prstGeom prst="rect">
            <a:avLst/>
          </a:prstGeom>
          <a:solidFill>
            <a:srgbClr val="1D1C3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u="sng">
                <a:solidFill>
                  <a:schemeClr val="hlink"/>
                </a:solidFill>
                <a:hlinkClick r:id="rId3"/>
              </a:rPr>
              <a:t>https://github.com/Shubhamsaboo/awesome-llm-apps</a:t>
            </a:r>
            <a:r>
              <a:rPr lang="es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553aadb8c5_0_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s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