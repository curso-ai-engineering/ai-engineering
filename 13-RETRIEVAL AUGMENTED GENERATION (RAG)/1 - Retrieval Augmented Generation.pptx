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5143500" cx="9144000"/>
  <p:notesSz cx="6858000" cy="9144000"/>
  <p:embeddedFontLst>
    <p:embeddedFont>
      <p:font typeface="Roboto"/>
      <p:regular r:id="rId38"/>
      <p:bold r:id="rId39"/>
      <p:italic r:id="rId40"/>
      <p:boldItalic r:id="rId41"/>
    </p:embeddedFont>
    <p:embeddedFont>
      <p:font typeface="Roboto Medium"/>
      <p:regular r:id="rId42"/>
      <p:bold r:id="rId43"/>
      <p:italic r:id="rId44"/>
      <p:boldItalic r:id="rId45"/>
    </p:embeddedFont>
    <p:embeddedFont>
      <p:font typeface="Bebas Neue"/>
      <p:regular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7" roundtripDataSignature="AMtx7mgSmJKZwAW5bfQ8tqwIWFKorpNC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italic.fntdata"/><Relationship Id="rId20" Type="http://schemas.openxmlformats.org/officeDocument/2006/relationships/slide" Target="slides/slide15.xml"/><Relationship Id="rId42" Type="http://schemas.openxmlformats.org/officeDocument/2006/relationships/font" Target="fonts/RobotoMedium-regular.fntdata"/><Relationship Id="rId41" Type="http://schemas.openxmlformats.org/officeDocument/2006/relationships/font" Target="fonts/Roboto-boldItalic.fntdata"/><Relationship Id="rId22" Type="http://schemas.openxmlformats.org/officeDocument/2006/relationships/slide" Target="slides/slide17.xml"/><Relationship Id="rId44" Type="http://schemas.openxmlformats.org/officeDocument/2006/relationships/font" Target="fonts/RobotoMedium-italic.fntdata"/><Relationship Id="rId21" Type="http://schemas.openxmlformats.org/officeDocument/2006/relationships/slide" Target="slides/slide16.xml"/><Relationship Id="rId43" Type="http://schemas.openxmlformats.org/officeDocument/2006/relationships/font" Target="fonts/RobotoMedium-bold.fntdata"/><Relationship Id="rId24" Type="http://schemas.openxmlformats.org/officeDocument/2006/relationships/slide" Target="slides/slide19.xml"/><Relationship Id="rId46" Type="http://schemas.openxmlformats.org/officeDocument/2006/relationships/font" Target="fonts/BebasNeue-regular.fntdata"/><Relationship Id="rId23" Type="http://schemas.openxmlformats.org/officeDocument/2006/relationships/slide" Target="slides/slide18.xml"/><Relationship Id="rId45" Type="http://schemas.openxmlformats.org/officeDocument/2006/relationships/font" Target="fonts/RobotoMedium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47" Type="http://customschemas.google.com/relationships/presentationmetadata" Target="meta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Roboto-bold.fntdata"/><Relationship Id="rId16" Type="http://schemas.openxmlformats.org/officeDocument/2006/relationships/slide" Target="slides/slide11.xml"/><Relationship Id="rId38" Type="http://schemas.openxmlformats.org/officeDocument/2006/relationships/font" Target="fonts/Roboto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553962e94e_0_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g3553962e94e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553962e94e_0_17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g3553962e94e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553962e94e_0_2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g3553962e94e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553962e94e_0_29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g3553962e94e_0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5b94842d4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g35b94842d4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1f4735f05770abbf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g1f4735f05770abbf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05d8aa7d6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g305d8aa7d6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05d8aa7d64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g305d8aa7d64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05d8aa7d64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g305d8aa7d64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05d8aa7d64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g305d8aa7d64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05d8aa7d64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g305d8aa7d64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05d8aa7d64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g305d8aa7d64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05d8aa7d64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g305d8aa7d64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094e535396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g3094e535396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094e535396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g3094e535396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094e53539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2" name="Google Shape;382;g3094e53539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fd71d061b341f7c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9" name="Google Shape;389;g3fd71d061b341f7c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553962e94e_0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4" name="Google Shape;394;g3553962e94e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553962e94e_0_7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1" name="Google Shape;401;g3553962e94e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image" Target="../media/image16.png"/><Relationship Id="rId4" Type="http://schemas.openxmlformats.org/officeDocument/2006/relationships/image" Target="../media/image13.png"/><Relationship Id="rId5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Azul" type="title">
  <p:cSld name="TITLE">
    <p:bg>
      <p:bgPr>
        <a:solidFill>
          <a:srgbClr val="1D1D30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g3553962e94e_0_3"/>
          <p:cNvPicPr preferRelativeResize="0"/>
          <p:nvPr/>
        </p:nvPicPr>
        <p:blipFill rotWithShape="1">
          <a:blip r:embed="rId2">
            <a:alphaModFix amt="30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g3553962e94e_0_3"/>
          <p:cNvSpPr txBox="1"/>
          <p:nvPr>
            <p:ph type="ctrTitle"/>
          </p:nvPr>
        </p:nvSpPr>
        <p:spPr>
          <a:xfrm>
            <a:off x="311708" y="65722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Arial"/>
              <a:buNone/>
              <a:defRPr b="1" i="0" sz="5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1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1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1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1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1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1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1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1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g3553962e94e_0_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D1D3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D1D3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D1D3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D1D3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D1D3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D1D3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D1D3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D1D3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D1D3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2" name="Google Shape;12;g3553962e94e_0_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60050" y="263475"/>
            <a:ext cx="1340680" cy="26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">
  <p:cSld name="Título y texto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553962e94e_0_8"/>
          <p:cNvSpPr txBox="1"/>
          <p:nvPr>
            <p:ph type="title"/>
          </p:nvPr>
        </p:nvSpPr>
        <p:spPr>
          <a:xfrm>
            <a:off x="628650" y="274638"/>
            <a:ext cx="68364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g3553962e94e_0_8"/>
          <p:cNvSpPr txBox="1"/>
          <p:nvPr>
            <p:ph idx="1" type="body"/>
          </p:nvPr>
        </p:nvSpPr>
        <p:spPr>
          <a:xfrm>
            <a:off x="628650" y="1605734"/>
            <a:ext cx="7886700" cy="3035100"/>
          </a:xfrm>
          <a:prstGeom prst="rect">
            <a:avLst/>
          </a:prstGeom>
          <a:solidFill>
            <a:srgbClr val="1D1D3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acía">
  <p:cSld name="Vacía">
    <p:bg>
      <p:bgPr>
        <a:solidFill>
          <a:srgbClr val="1D1D30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nal" type="blank">
  <p:cSld name="BLANK">
    <p:bg>
      <p:bgPr>
        <a:solidFill>
          <a:srgbClr val="1D1D30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g3553962e94e_0_11" title="KeepcodingColores_RGB 1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3050" y="1453825"/>
            <a:ext cx="7480150" cy="22199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g3553962e94e_0_11"/>
          <p:cNvSpPr/>
          <p:nvPr/>
        </p:nvSpPr>
        <p:spPr>
          <a:xfrm>
            <a:off x="25" y="4866050"/>
            <a:ext cx="9144000" cy="277500"/>
          </a:xfrm>
          <a:prstGeom prst="rect">
            <a:avLst/>
          </a:prstGeom>
          <a:solidFill>
            <a:srgbClr val="1D1D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" name="Google Shape;20;g3553962e94e_0_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0498" y="4893923"/>
            <a:ext cx="221751" cy="221776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g3553962e94e_0_11"/>
          <p:cNvSpPr txBox="1"/>
          <p:nvPr/>
        </p:nvSpPr>
        <p:spPr>
          <a:xfrm>
            <a:off x="1802250" y="4866063"/>
            <a:ext cx="1308900" cy="27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www.keepcoding.io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g3553962e94e_0_11"/>
          <p:cNvSpPr txBox="1"/>
          <p:nvPr/>
        </p:nvSpPr>
        <p:spPr>
          <a:xfrm>
            <a:off x="3823325" y="4866050"/>
            <a:ext cx="1497900" cy="27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cursos@keepcoding.io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" name="Google Shape;23;g3553962e94e_0_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01575" y="4893925"/>
            <a:ext cx="221750" cy="22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g3553962e94e_0_11"/>
          <p:cNvSpPr txBox="1"/>
          <p:nvPr/>
        </p:nvSpPr>
        <p:spPr>
          <a:xfrm>
            <a:off x="5967675" y="4866025"/>
            <a:ext cx="1497900" cy="27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chemeClr val="lt1"/>
                </a:solidFill>
                <a:highlight>
                  <a:srgbClr val="161625"/>
                </a:highlight>
                <a:latin typeface="Arial"/>
                <a:ea typeface="Arial"/>
                <a:cs typeface="Arial"/>
                <a:sym typeface="Arial"/>
              </a:rPr>
              <a:t>(+34) 916 33 1779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" name="Google Shape;25;g3553962e94e_0_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83875" y="4893938"/>
            <a:ext cx="221750" cy="22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lantilla Vacía">
  <p:cSld name="Plantilla Vacía">
    <p:bg>
      <p:bgPr>
        <a:solidFill>
          <a:srgbClr val="1D1D30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553962e94e_0_20"/>
          <p:cNvSpPr txBox="1"/>
          <p:nvPr>
            <p:ph idx="12" type="sldNum"/>
          </p:nvPr>
        </p:nvSpPr>
        <p:spPr>
          <a:xfrm>
            <a:off x="8404958" y="45573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8" name="Google Shape;28;g3553962e94e_0_20"/>
          <p:cNvSpPr txBox="1"/>
          <p:nvPr>
            <p:ph type="ctrTitle"/>
          </p:nvPr>
        </p:nvSpPr>
        <p:spPr>
          <a:xfrm>
            <a:off x="311708" y="5692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5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g3553962e94e_0_20"/>
          <p:cNvSpPr/>
          <p:nvPr/>
        </p:nvSpPr>
        <p:spPr>
          <a:xfrm>
            <a:off x="1345800" y="2160100"/>
            <a:ext cx="6217500" cy="107400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g3553962e94e_0_20"/>
          <p:cNvSpPr txBox="1"/>
          <p:nvPr>
            <p:ph idx="1" type="subTitle"/>
          </p:nvPr>
        </p:nvSpPr>
        <p:spPr>
          <a:xfrm>
            <a:off x="1943550" y="2300800"/>
            <a:ext cx="50220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g3553962e94e_0_20"/>
          <p:cNvSpPr txBox="1"/>
          <p:nvPr/>
        </p:nvSpPr>
        <p:spPr>
          <a:xfrm>
            <a:off x="3094950" y="3234100"/>
            <a:ext cx="29541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oboto"/>
              <a:buNone/>
            </a:pPr>
            <a:r>
              <a:rPr b="1" i="0" lang="es" sz="3400" u="none" cap="none" strike="noStrike">
                <a:solidFill>
                  <a:srgbClr val="F6FE8C"/>
                </a:solidFill>
                <a:latin typeface="Arial"/>
                <a:ea typeface="Arial"/>
                <a:cs typeface="Arial"/>
                <a:sym typeface="Arial"/>
              </a:rPr>
              <a:t>Subtítulo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553962e94e_0_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">
  <p:cSld name="1_Título y texto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553962e94e_0_29"/>
          <p:cNvSpPr txBox="1"/>
          <p:nvPr>
            <p:ph type="title"/>
          </p:nvPr>
        </p:nvSpPr>
        <p:spPr>
          <a:xfrm>
            <a:off x="616500" y="368825"/>
            <a:ext cx="6484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" name="Google Shape;36;g3553962e94e_0_29"/>
          <p:cNvSpPr txBox="1"/>
          <p:nvPr>
            <p:ph idx="1" type="body"/>
          </p:nvPr>
        </p:nvSpPr>
        <p:spPr>
          <a:xfrm>
            <a:off x="503750" y="1514750"/>
            <a:ext cx="7873200" cy="30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553962e94e_0_32"/>
          <p:cNvSpPr txBox="1"/>
          <p:nvPr>
            <p:ph type="ctrTitle"/>
          </p:nvPr>
        </p:nvSpPr>
        <p:spPr>
          <a:xfrm>
            <a:off x="616503" y="1125575"/>
            <a:ext cx="55149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Arial"/>
              <a:buNone/>
              <a:defRPr b="0" i="0" sz="4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  <a:defRPr b="0" i="0" sz="4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  <a:defRPr b="0" i="0" sz="4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  <a:defRPr b="0" i="0" sz="4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  <a:defRPr b="0" i="0" sz="4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  <a:defRPr b="0" i="0" sz="4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  <a:defRPr b="0" i="0" sz="4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  <a:defRPr b="0" i="0" sz="4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  <a:defRPr b="0" i="0" sz="4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g3553962e94e_0_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1">
  <p:cSld name="CUSTOM_1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553962e94e_0_35"/>
          <p:cNvSpPr txBox="1"/>
          <p:nvPr>
            <p:ph type="title"/>
          </p:nvPr>
        </p:nvSpPr>
        <p:spPr>
          <a:xfrm>
            <a:off x="616500" y="368825"/>
            <a:ext cx="6484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" name="Google Shape;42;g3553962e94e_0_35"/>
          <p:cNvSpPr txBox="1"/>
          <p:nvPr>
            <p:ph idx="1" type="body"/>
          </p:nvPr>
        </p:nvSpPr>
        <p:spPr>
          <a:xfrm>
            <a:off x="503750" y="1514750"/>
            <a:ext cx="7873200" cy="30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nal 1">
  <p:cSld name="CUSTOM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3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1D3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g3553962e94e_0_0"/>
          <p:cNvPicPr preferRelativeResize="0"/>
          <p:nvPr/>
        </p:nvPicPr>
        <p:blipFill rotWithShape="1">
          <a:blip r:embed="rId1">
            <a:alphaModFix amt="30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g3553962e94e_0_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60050" y="263475"/>
            <a:ext cx="1340680" cy="2694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26.png"/><Relationship Id="rId5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19.png"/><Relationship Id="rId6" Type="http://schemas.openxmlformats.org/officeDocument/2006/relationships/image" Target="../media/image28.png"/><Relationship Id="rId7" Type="http://schemas.openxmlformats.org/officeDocument/2006/relationships/image" Target="../media/image22.png"/><Relationship Id="rId8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9.png"/><Relationship Id="rId5" Type="http://schemas.openxmlformats.org/officeDocument/2006/relationships/image" Target="../media/image28.png"/><Relationship Id="rId6" Type="http://schemas.openxmlformats.org/officeDocument/2006/relationships/image" Target="../media/image22.png"/><Relationship Id="rId7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19.png"/><Relationship Id="rId6" Type="http://schemas.openxmlformats.org/officeDocument/2006/relationships/image" Target="../media/image28.png"/><Relationship Id="rId7" Type="http://schemas.openxmlformats.org/officeDocument/2006/relationships/image" Target="../media/image22.png"/><Relationship Id="rId8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Relationship Id="rId4" Type="http://schemas.openxmlformats.org/officeDocument/2006/relationships/image" Target="../media/image2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19.png"/><Relationship Id="rId6" Type="http://schemas.openxmlformats.org/officeDocument/2006/relationships/image" Target="../media/image28.png"/><Relationship Id="rId7" Type="http://schemas.openxmlformats.org/officeDocument/2006/relationships/image" Target="../media/image22.png"/><Relationship Id="rId8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4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1.png"/><Relationship Id="rId4" Type="http://schemas.openxmlformats.org/officeDocument/2006/relationships/image" Target="../media/image4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slow-yarn-066.notion.site/RAG-Prompt-Techniques-10dffc444faf8027ac2ddcb78423a369?pvs=4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3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6.png"/><Relationship Id="rId4" Type="http://schemas.openxmlformats.org/officeDocument/2006/relationships/image" Target="../media/image42.png"/><Relationship Id="rId5" Type="http://schemas.openxmlformats.org/officeDocument/2006/relationships/hyperlink" Target="https://miro.com/app/board/uXjVNvklNmc=/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553962e94e_0_39"/>
          <p:cNvSpPr/>
          <p:nvPr/>
        </p:nvSpPr>
        <p:spPr>
          <a:xfrm>
            <a:off x="1345800" y="2160100"/>
            <a:ext cx="6217500" cy="107400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g3553962e94e_0_39"/>
          <p:cNvSpPr txBox="1"/>
          <p:nvPr>
            <p:ph idx="1" type="subTitle"/>
          </p:nvPr>
        </p:nvSpPr>
        <p:spPr>
          <a:xfrm>
            <a:off x="1943550" y="2300800"/>
            <a:ext cx="50220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 sz="4400"/>
              <a:t>AI ENGINEERING</a:t>
            </a:r>
            <a:endParaRPr sz="4400"/>
          </a:p>
        </p:txBody>
      </p:sp>
      <p:sp>
        <p:nvSpPr>
          <p:cNvPr id="50" name="Google Shape;50;g3553962e94e_0_39"/>
          <p:cNvSpPr txBox="1"/>
          <p:nvPr>
            <p:ph idx="1" type="subTitle"/>
          </p:nvPr>
        </p:nvSpPr>
        <p:spPr>
          <a:xfrm>
            <a:off x="1345800" y="3234100"/>
            <a:ext cx="62175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 sz="3000">
                <a:solidFill>
                  <a:srgbClr val="F6FE8C"/>
                </a:solidFill>
              </a:rPr>
              <a:t>Retrieval Augmented Generation</a:t>
            </a:r>
            <a:endParaRPr sz="3000">
              <a:solidFill>
                <a:srgbClr val="F6FE8C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553962e94e_0_173"/>
          <p:cNvSpPr/>
          <p:nvPr/>
        </p:nvSpPr>
        <p:spPr>
          <a:xfrm>
            <a:off x="603606" y="1751531"/>
            <a:ext cx="7955700" cy="235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g3553962e94e_0_173"/>
          <p:cNvSpPr txBox="1"/>
          <p:nvPr>
            <p:ph type="title"/>
          </p:nvPr>
        </p:nvSpPr>
        <p:spPr>
          <a:xfrm>
            <a:off x="628650" y="274638"/>
            <a:ext cx="68364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44"/>
              <a:buNone/>
            </a:pPr>
            <a:r>
              <a:rPr lang="es"/>
              <a:t>GenAI Project Lifecycle</a:t>
            </a:r>
            <a:endParaRPr/>
          </a:p>
        </p:txBody>
      </p:sp>
      <p:sp>
        <p:nvSpPr>
          <p:cNvPr id="57" name="Google Shape;57;g3553962e94e_0_173"/>
          <p:cNvSpPr/>
          <p:nvPr/>
        </p:nvSpPr>
        <p:spPr>
          <a:xfrm>
            <a:off x="605200" y="1735200"/>
            <a:ext cx="1098000" cy="2253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g3553962e94e_0_173"/>
          <p:cNvSpPr/>
          <p:nvPr/>
        </p:nvSpPr>
        <p:spPr>
          <a:xfrm>
            <a:off x="1703201" y="1735200"/>
            <a:ext cx="1237200" cy="2253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g3553962e94e_0_173"/>
          <p:cNvSpPr/>
          <p:nvPr/>
        </p:nvSpPr>
        <p:spPr>
          <a:xfrm>
            <a:off x="2940365" y="1735200"/>
            <a:ext cx="1373700" cy="2253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g3553962e94e_0_173"/>
          <p:cNvSpPr/>
          <p:nvPr/>
        </p:nvSpPr>
        <p:spPr>
          <a:xfrm>
            <a:off x="5634325" y="1735200"/>
            <a:ext cx="1221300" cy="2253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g3553962e94e_0_173"/>
          <p:cNvSpPr/>
          <p:nvPr/>
        </p:nvSpPr>
        <p:spPr>
          <a:xfrm>
            <a:off x="6855600" y="1735200"/>
            <a:ext cx="1697700" cy="2253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" name="Google Shape;62;g3553962e94e_0_173"/>
          <p:cNvGrpSpPr/>
          <p:nvPr/>
        </p:nvGrpSpPr>
        <p:grpSpPr>
          <a:xfrm>
            <a:off x="597475" y="1301432"/>
            <a:ext cx="1434848" cy="2431700"/>
            <a:chOff x="0" y="1189982"/>
            <a:chExt cx="1955100" cy="3482813"/>
          </a:xfrm>
        </p:grpSpPr>
        <p:sp>
          <p:nvSpPr>
            <p:cNvPr id="63" name="Google Shape;63;g3553962e94e_0_173"/>
            <p:cNvSpPr/>
            <p:nvPr/>
          </p:nvSpPr>
          <p:spPr>
            <a:xfrm>
              <a:off x="0" y="1189982"/>
              <a:ext cx="1955100" cy="669000"/>
            </a:xfrm>
            <a:prstGeom prst="homePlate">
              <a:avLst>
                <a:gd fmla="val 50000" name="adj"/>
              </a:avLst>
            </a:prstGeom>
            <a:solidFill>
              <a:srgbClr val="274E1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s" sz="2000" u="none" cap="none" strike="noStrike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definicióN</a:t>
              </a:r>
              <a:endParaRPr b="0" i="0" sz="2000" u="none" cap="none" strike="noStrike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  <p:sp>
          <p:nvSpPr>
            <p:cNvPr id="64" name="Google Shape;64;g3553962e94e_0_173"/>
            <p:cNvSpPr txBox="1"/>
            <p:nvPr/>
          </p:nvSpPr>
          <p:spPr>
            <a:xfrm>
              <a:off x="10526" y="2057095"/>
              <a:ext cx="14961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s" sz="1600" u="none" cap="none" strike="noStrike">
                  <a:solidFill>
                    <a:srgbClr val="000000"/>
                  </a:solidFill>
                  <a:latin typeface="Bebas Neue"/>
                  <a:ea typeface="Bebas Neue"/>
                  <a:cs typeface="Bebas Neue"/>
                  <a:sym typeface="Bebas Neue"/>
                </a:rPr>
                <a:t>Caso de uso</a:t>
              </a:r>
              <a:endParaRPr b="0" i="0" sz="1600" u="none" cap="none" strike="noStrike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s" sz="1600" u="none" cap="none" strike="noStrike">
                  <a:solidFill>
                    <a:srgbClr val="000000"/>
                  </a:solidFill>
                  <a:latin typeface="Bebas Neue"/>
                  <a:ea typeface="Bebas Neue"/>
                  <a:cs typeface="Bebas Neue"/>
                  <a:sym typeface="Bebas Neue"/>
                </a:rPr>
                <a:t>Definir coste y alcance</a:t>
              </a:r>
              <a:endParaRPr b="0" i="0" sz="1600" u="none" cap="none" strike="noStrike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s" sz="1600" u="none" cap="none" strike="noStrike">
                  <a:solidFill>
                    <a:srgbClr val="000000"/>
                  </a:solidFill>
                  <a:latin typeface="Bebas Neue"/>
                  <a:ea typeface="Bebas Neue"/>
                  <a:cs typeface="Bebas Neue"/>
                  <a:sym typeface="Bebas Neue"/>
                </a:rPr>
                <a:t>RAI &amp; Ethics</a:t>
              </a:r>
              <a:endParaRPr b="0" i="0" sz="1600" u="none" cap="none" strike="noStrike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</p:grpSp>
      <p:grpSp>
        <p:nvGrpSpPr>
          <p:cNvPr id="65" name="Google Shape;65;g3553962e94e_0_173"/>
          <p:cNvGrpSpPr/>
          <p:nvPr/>
        </p:nvGrpSpPr>
        <p:grpSpPr>
          <a:xfrm>
            <a:off x="1712317" y="1301199"/>
            <a:ext cx="1504704" cy="2432223"/>
            <a:chOff x="2263425" y="1189775"/>
            <a:chExt cx="2541300" cy="3483063"/>
          </a:xfrm>
        </p:grpSpPr>
        <p:sp>
          <p:nvSpPr>
            <p:cNvPr id="66" name="Google Shape;66;g3553962e94e_0_173"/>
            <p:cNvSpPr/>
            <p:nvPr/>
          </p:nvSpPr>
          <p:spPr>
            <a:xfrm>
              <a:off x="2263425" y="1189775"/>
              <a:ext cx="2541300" cy="669000"/>
            </a:xfrm>
            <a:prstGeom prst="chevron">
              <a:avLst>
                <a:gd fmla="val 50000" name="adj"/>
              </a:avLst>
            </a:prstGeom>
            <a:solidFill>
              <a:srgbClr val="3876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s" sz="2000" u="none" cap="none" strike="noStrike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MODELO</a:t>
              </a:r>
              <a:endParaRPr b="0" i="0" sz="2000" u="none" cap="none" strike="noStrike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  <p:sp>
          <p:nvSpPr>
            <p:cNvPr id="67" name="Google Shape;67;g3553962e94e_0_173"/>
            <p:cNvSpPr txBox="1"/>
            <p:nvPr/>
          </p:nvSpPr>
          <p:spPr>
            <a:xfrm>
              <a:off x="2351406" y="2057138"/>
              <a:ext cx="19935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s" sz="1600" u="none" cap="none" strike="noStrike">
                  <a:solidFill>
                    <a:srgbClr val="000000"/>
                  </a:solidFill>
                  <a:latin typeface="Bebas Neue"/>
                  <a:ea typeface="Bebas Neue"/>
                  <a:cs typeface="Bebas Neue"/>
                  <a:sym typeface="Bebas Neue"/>
                </a:rPr>
                <a:t>Modelo existente</a:t>
              </a:r>
              <a:endParaRPr b="0" i="0" sz="1600" u="none" cap="none" strike="noStrike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s" sz="1600" u="none" cap="none" strike="noStrike">
                  <a:solidFill>
                    <a:srgbClr val="000000"/>
                  </a:solidFill>
                  <a:latin typeface="Bebas Neue"/>
                  <a:ea typeface="Bebas Neue"/>
                  <a:cs typeface="Bebas Neue"/>
                  <a:sym typeface="Bebas Neue"/>
                </a:rPr>
                <a:t>pre-entrenar</a:t>
              </a:r>
              <a:endParaRPr b="0" i="0" sz="1600" u="none" cap="none" strike="noStrike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</p:grpSp>
      <p:sp>
        <p:nvSpPr>
          <p:cNvPr id="68" name="Google Shape;68;g3553962e94e_0_173"/>
          <p:cNvSpPr/>
          <p:nvPr/>
        </p:nvSpPr>
        <p:spPr>
          <a:xfrm>
            <a:off x="4314075" y="1735200"/>
            <a:ext cx="1320300" cy="2253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9" name="Google Shape;69;g3553962e94e_0_173"/>
          <p:cNvGrpSpPr/>
          <p:nvPr/>
        </p:nvGrpSpPr>
        <p:grpSpPr>
          <a:xfrm>
            <a:off x="2934809" y="1301234"/>
            <a:ext cx="1697588" cy="2432096"/>
            <a:chOff x="2804109" y="1189775"/>
            <a:chExt cx="2541300" cy="3482382"/>
          </a:xfrm>
        </p:grpSpPr>
        <p:sp>
          <p:nvSpPr>
            <p:cNvPr id="70" name="Google Shape;70;g3553962e94e_0_173"/>
            <p:cNvSpPr/>
            <p:nvPr/>
          </p:nvSpPr>
          <p:spPr>
            <a:xfrm>
              <a:off x="2804109" y="1189775"/>
              <a:ext cx="2541300" cy="669000"/>
            </a:xfrm>
            <a:prstGeom prst="chevron">
              <a:avLst>
                <a:gd fmla="val 50000" name="adj"/>
              </a:avLst>
            </a:prstGeom>
            <a:solidFill>
              <a:srgbClr val="6AA8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s" sz="2000" u="none" cap="none" strike="noStrike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ADAPTACIóN</a:t>
              </a:r>
              <a:endParaRPr b="0" i="0" sz="2000" u="none" cap="none" strike="noStrike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  <p:sp>
          <p:nvSpPr>
            <p:cNvPr id="71" name="Google Shape;71;g3553962e94e_0_173"/>
            <p:cNvSpPr txBox="1"/>
            <p:nvPr/>
          </p:nvSpPr>
          <p:spPr>
            <a:xfrm>
              <a:off x="2812479" y="2056457"/>
              <a:ext cx="20565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s" sz="1600" u="none" cap="none" strike="noStrike">
                  <a:solidFill>
                    <a:srgbClr val="000000"/>
                  </a:solidFill>
                  <a:latin typeface="Bebas Neue"/>
                  <a:ea typeface="Bebas Neue"/>
                  <a:cs typeface="Bebas Neue"/>
                  <a:sym typeface="Bebas Neue"/>
                </a:rPr>
                <a:t>PromPt Engineering</a:t>
              </a:r>
              <a:endParaRPr b="0" i="0" sz="1600" u="none" cap="none" strike="noStrike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s" sz="1600" u="none" cap="none" strike="noStrike">
                  <a:solidFill>
                    <a:srgbClr val="000000"/>
                  </a:solidFill>
                  <a:latin typeface="Bebas Neue"/>
                  <a:ea typeface="Bebas Neue"/>
                  <a:cs typeface="Bebas Neue"/>
                  <a:sym typeface="Bebas Neue"/>
                </a:rPr>
                <a:t>RAG, react,...</a:t>
              </a:r>
              <a:endParaRPr b="0" i="0" sz="1600" u="none" cap="none" strike="noStrike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s" sz="1600" u="none" cap="none" strike="noStrike">
                  <a:solidFill>
                    <a:srgbClr val="000000"/>
                  </a:solidFill>
                  <a:latin typeface="Bebas Neue"/>
                  <a:ea typeface="Bebas Neue"/>
                  <a:cs typeface="Bebas Neue"/>
                  <a:sym typeface="Bebas Neue"/>
                </a:rPr>
                <a:t>Fine-tuning</a:t>
              </a:r>
              <a:endParaRPr b="0" i="0" sz="1600" u="none" cap="none" strike="noStrike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</p:grpSp>
      <p:grpSp>
        <p:nvGrpSpPr>
          <p:cNvPr id="72" name="Google Shape;72;g3553962e94e_0_173"/>
          <p:cNvGrpSpPr/>
          <p:nvPr/>
        </p:nvGrpSpPr>
        <p:grpSpPr>
          <a:xfrm>
            <a:off x="5618898" y="1300799"/>
            <a:ext cx="1544348" cy="2432219"/>
            <a:chOff x="8176915" y="1189775"/>
            <a:chExt cx="2541300" cy="3483058"/>
          </a:xfrm>
        </p:grpSpPr>
        <p:sp>
          <p:nvSpPr>
            <p:cNvPr id="73" name="Google Shape;73;g3553962e94e_0_173"/>
            <p:cNvSpPr/>
            <p:nvPr/>
          </p:nvSpPr>
          <p:spPr>
            <a:xfrm>
              <a:off x="8176915" y="1189775"/>
              <a:ext cx="2541300" cy="669000"/>
            </a:xfrm>
            <a:prstGeom prst="chevron">
              <a:avLst>
                <a:gd fmla="val 50000" name="adj"/>
              </a:avLst>
            </a:prstGeom>
            <a:solidFill>
              <a:srgbClr val="6AA8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s" sz="2000" u="none" cap="none" strike="noStrike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MLOPS</a:t>
              </a:r>
              <a:endParaRPr b="0" i="0" sz="2000" u="none" cap="none" strike="noStrike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  <p:sp>
          <p:nvSpPr>
            <p:cNvPr id="74" name="Google Shape;74;g3553962e94e_0_173"/>
            <p:cNvSpPr txBox="1"/>
            <p:nvPr/>
          </p:nvSpPr>
          <p:spPr>
            <a:xfrm>
              <a:off x="8224722" y="2057133"/>
              <a:ext cx="19872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0" i="0" lang="es" sz="1700" u="none" cap="none" strike="noStrike">
                  <a:solidFill>
                    <a:srgbClr val="000000"/>
                  </a:solidFill>
                  <a:latin typeface="Bebas Neue"/>
                  <a:ea typeface="Bebas Neue"/>
                  <a:cs typeface="Bebas Neue"/>
                  <a:sym typeface="Bebas Neue"/>
                </a:rPr>
                <a:t>Optimitzación</a:t>
              </a:r>
              <a:endParaRPr b="0" i="0" sz="1700" u="none" cap="none" strike="noStrike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t/>
              </a:r>
              <a:endParaRPr b="0" i="0" sz="1700" u="none" cap="none" strike="noStrike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0" i="0" lang="es" sz="1700" u="none" cap="none" strike="noStrike">
                  <a:solidFill>
                    <a:srgbClr val="000000"/>
                  </a:solidFill>
                  <a:latin typeface="Bebas Neue"/>
                  <a:ea typeface="Bebas Neue"/>
                  <a:cs typeface="Bebas Neue"/>
                  <a:sym typeface="Bebas Neue"/>
                </a:rPr>
                <a:t>Deploy del modelo</a:t>
              </a:r>
              <a:endParaRPr b="0" i="0" sz="1700" u="none" cap="none" strike="noStrike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</p:grpSp>
      <p:grpSp>
        <p:nvGrpSpPr>
          <p:cNvPr id="75" name="Google Shape;75;g3553962e94e_0_173"/>
          <p:cNvGrpSpPr/>
          <p:nvPr/>
        </p:nvGrpSpPr>
        <p:grpSpPr>
          <a:xfrm>
            <a:off x="6855601" y="1300900"/>
            <a:ext cx="1944836" cy="2432219"/>
            <a:chOff x="8176904" y="1189782"/>
            <a:chExt cx="2584500" cy="3483057"/>
          </a:xfrm>
        </p:grpSpPr>
        <p:sp>
          <p:nvSpPr>
            <p:cNvPr id="76" name="Google Shape;76;g3553962e94e_0_173"/>
            <p:cNvSpPr/>
            <p:nvPr/>
          </p:nvSpPr>
          <p:spPr>
            <a:xfrm>
              <a:off x="8176904" y="1189782"/>
              <a:ext cx="2584500" cy="669000"/>
            </a:xfrm>
            <a:prstGeom prst="chevron">
              <a:avLst>
                <a:gd fmla="val 50000" name="adj"/>
              </a:avLst>
            </a:prstGeom>
            <a:solidFill>
              <a:srgbClr val="3876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s" sz="2000" u="none" cap="none" strike="noStrike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integracióN</a:t>
              </a:r>
              <a:endParaRPr b="0" i="0" sz="2000" u="none" cap="none" strike="noStrike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  <p:sp>
          <p:nvSpPr>
            <p:cNvPr id="77" name="Google Shape;77;g3553962e94e_0_173"/>
            <p:cNvSpPr txBox="1"/>
            <p:nvPr/>
          </p:nvSpPr>
          <p:spPr>
            <a:xfrm>
              <a:off x="8176937" y="2057139"/>
              <a:ext cx="22560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0" i="0" lang="es" sz="1700" u="none" cap="none" strike="noStrike">
                  <a:solidFill>
                    <a:srgbClr val="000000"/>
                  </a:solidFill>
                  <a:latin typeface="Bebas Neue"/>
                  <a:ea typeface="Bebas Neue"/>
                  <a:cs typeface="Bebas Neue"/>
                  <a:sym typeface="Bebas Neue"/>
                </a:rPr>
                <a:t>Api</a:t>
              </a:r>
              <a:endParaRPr b="0" i="0" sz="1700" u="none" cap="none" strike="noStrike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t/>
              </a:r>
              <a:endParaRPr b="0" i="0" sz="1700" u="none" cap="none" strike="noStrike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0" i="0" lang="es" sz="1700" u="none" cap="none" strike="noStrike">
                  <a:solidFill>
                    <a:srgbClr val="000000"/>
                  </a:solidFill>
                  <a:latin typeface="Bebas Neue"/>
                  <a:ea typeface="Bebas Neue"/>
                  <a:cs typeface="Bebas Neue"/>
                  <a:sym typeface="Bebas Neue"/>
                </a:rPr>
                <a:t>Crear llm-powered apps</a:t>
              </a:r>
              <a:endParaRPr b="0" i="0" sz="1700" u="none" cap="none" strike="noStrike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</p:grpSp>
      <p:grpSp>
        <p:nvGrpSpPr>
          <p:cNvPr id="78" name="Google Shape;78;g3553962e94e_0_173"/>
          <p:cNvGrpSpPr/>
          <p:nvPr/>
        </p:nvGrpSpPr>
        <p:grpSpPr>
          <a:xfrm>
            <a:off x="4309812" y="1300977"/>
            <a:ext cx="1642188" cy="2432082"/>
            <a:chOff x="2804109" y="1189775"/>
            <a:chExt cx="2541300" cy="3482363"/>
          </a:xfrm>
        </p:grpSpPr>
        <p:sp>
          <p:nvSpPr>
            <p:cNvPr id="79" name="Google Shape;79;g3553962e94e_0_173"/>
            <p:cNvSpPr/>
            <p:nvPr/>
          </p:nvSpPr>
          <p:spPr>
            <a:xfrm>
              <a:off x="2804109" y="1189775"/>
              <a:ext cx="2541300" cy="669000"/>
            </a:xfrm>
            <a:prstGeom prst="chevron">
              <a:avLst>
                <a:gd fmla="val 50000" name="adj"/>
              </a:avLst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s" sz="2000" u="none" cap="none" strike="noStrike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EVALUACIÓN</a:t>
              </a:r>
              <a:endParaRPr b="0" i="0" sz="2000" u="none" cap="none" strike="noStrike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  <p:sp>
          <p:nvSpPr>
            <p:cNvPr id="80" name="Google Shape;80;g3553962e94e_0_173"/>
            <p:cNvSpPr txBox="1"/>
            <p:nvPr/>
          </p:nvSpPr>
          <p:spPr>
            <a:xfrm>
              <a:off x="2811147" y="2056438"/>
              <a:ext cx="21726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s" sz="1600" u="none" cap="none" strike="noStrike">
                  <a:solidFill>
                    <a:srgbClr val="000000"/>
                  </a:solidFill>
                  <a:latin typeface="Bebas Neue"/>
                  <a:ea typeface="Bebas Neue"/>
                  <a:cs typeface="Bebas Neue"/>
                  <a:sym typeface="Bebas Neue"/>
                </a:rPr>
                <a:t>CUSTOM</a:t>
              </a:r>
              <a:br>
                <a:rPr b="0" i="0" lang="es" sz="1600" u="none" cap="none" strike="noStrike">
                  <a:solidFill>
                    <a:srgbClr val="000000"/>
                  </a:solidFill>
                  <a:latin typeface="Bebas Neue"/>
                  <a:ea typeface="Bebas Neue"/>
                  <a:cs typeface="Bebas Neue"/>
                  <a:sym typeface="Bebas Neue"/>
                </a:rPr>
              </a:br>
              <a:br>
                <a:rPr b="0" i="0" lang="es" sz="1600" u="none" cap="none" strike="noStrike">
                  <a:solidFill>
                    <a:srgbClr val="000000"/>
                  </a:solidFill>
                  <a:latin typeface="Bebas Neue"/>
                  <a:ea typeface="Bebas Neue"/>
                  <a:cs typeface="Bebas Neue"/>
                  <a:sym typeface="Bebas Neue"/>
                </a:rPr>
              </a:br>
              <a:r>
                <a:rPr b="0" i="0" lang="es" sz="1600" u="none" cap="none" strike="noStrike">
                  <a:solidFill>
                    <a:srgbClr val="000000"/>
                  </a:solidFill>
                  <a:latin typeface="Bebas Neue"/>
                  <a:ea typeface="Bebas Neue"/>
                  <a:cs typeface="Bebas Neue"/>
                  <a:sym typeface="Bebas Neue"/>
                </a:rPr>
                <a:t>W&amp;B</a:t>
              </a:r>
              <a:endParaRPr b="0" i="0" sz="1600" u="none" cap="none" strike="noStrike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</p:grpSp>
      <p:sp>
        <p:nvSpPr>
          <p:cNvPr id="81" name="Google Shape;81;g3553962e94e_0_173"/>
          <p:cNvSpPr/>
          <p:nvPr/>
        </p:nvSpPr>
        <p:spPr>
          <a:xfrm flipH="1">
            <a:off x="343550" y="3988200"/>
            <a:ext cx="1373700" cy="467100"/>
          </a:xfrm>
          <a:prstGeom prst="homePlate">
            <a:avLst>
              <a:gd fmla="val 50000" name="adj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82" name="Google Shape;82;g3553962e94e_0_173"/>
          <p:cNvSpPr/>
          <p:nvPr/>
        </p:nvSpPr>
        <p:spPr>
          <a:xfrm flipH="1">
            <a:off x="1463550" y="3988200"/>
            <a:ext cx="1544400" cy="467100"/>
          </a:xfrm>
          <a:prstGeom prst="homePlate">
            <a:avLst>
              <a:gd fmla="val 50000" name="adj"/>
            </a:avLst>
          </a:prstGeom>
          <a:solidFill>
            <a:srgbClr val="66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83" name="Google Shape;83;g3553962e94e_0_173"/>
          <p:cNvSpPr/>
          <p:nvPr/>
        </p:nvSpPr>
        <p:spPr>
          <a:xfrm flipH="1">
            <a:off x="2714775" y="3988200"/>
            <a:ext cx="1599300" cy="467100"/>
          </a:xfrm>
          <a:prstGeom prst="homePlate">
            <a:avLst>
              <a:gd fmla="val 50000" name="adj"/>
            </a:avLst>
          </a:prstGeom>
          <a:solidFill>
            <a:srgbClr val="99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84" name="Google Shape;84;g3553962e94e_0_173"/>
          <p:cNvSpPr/>
          <p:nvPr/>
        </p:nvSpPr>
        <p:spPr>
          <a:xfrm flipH="1">
            <a:off x="4074400" y="3988200"/>
            <a:ext cx="1697700" cy="467100"/>
          </a:xfrm>
          <a:prstGeom prst="homePlate">
            <a:avLst>
              <a:gd fmla="val 50000" name="adj"/>
            </a:avLst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85" name="Google Shape;85;g3553962e94e_0_173"/>
          <p:cNvSpPr/>
          <p:nvPr/>
        </p:nvSpPr>
        <p:spPr>
          <a:xfrm flipH="1">
            <a:off x="5420650" y="3988200"/>
            <a:ext cx="1642200" cy="467100"/>
          </a:xfrm>
          <a:prstGeom prst="homePlate">
            <a:avLst>
              <a:gd fmla="val 50000" name="adj"/>
            </a:avLst>
          </a:prstGeom>
          <a:solidFill>
            <a:srgbClr val="E0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86" name="Google Shape;86;g3553962e94e_0_173"/>
          <p:cNvSpPr/>
          <p:nvPr/>
        </p:nvSpPr>
        <p:spPr>
          <a:xfrm flipH="1">
            <a:off x="6641100" y="3988200"/>
            <a:ext cx="1912200" cy="467100"/>
          </a:xfrm>
          <a:prstGeom prst="homePlate">
            <a:avLst>
              <a:gd fmla="val 50000" name="adj"/>
            </a:avLst>
          </a:prstGeom>
          <a:solidFill>
            <a:srgbClr val="EA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87" name="Google Shape;87;g3553962e94e_0_173"/>
          <p:cNvSpPr/>
          <p:nvPr/>
        </p:nvSpPr>
        <p:spPr>
          <a:xfrm>
            <a:off x="6499075" y="3223675"/>
            <a:ext cx="949800" cy="2316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g3553962e94e_0_173"/>
          <p:cNvSpPr/>
          <p:nvPr/>
        </p:nvSpPr>
        <p:spPr>
          <a:xfrm>
            <a:off x="5371525" y="3478656"/>
            <a:ext cx="2077500" cy="2316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g3553962e94e_0_173"/>
          <p:cNvSpPr/>
          <p:nvPr/>
        </p:nvSpPr>
        <p:spPr>
          <a:xfrm>
            <a:off x="3965950" y="3719221"/>
            <a:ext cx="3483000" cy="2316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g3553962e94e_0_173"/>
          <p:cNvSpPr/>
          <p:nvPr/>
        </p:nvSpPr>
        <p:spPr>
          <a:xfrm>
            <a:off x="3950775" y="3450250"/>
            <a:ext cx="949800" cy="2316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3553962e94e_0_173"/>
          <p:cNvSpPr/>
          <p:nvPr/>
        </p:nvSpPr>
        <p:spPr>
          <a:xfrm>
            <a:off x="2581750" y="3719225"/>
            <a:ext cx="949800" cy="2316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g3553962e94e_0_173"/>
          <p:cNvSpPr/>
          <p:nvPr/>
        </p:nvSpPr>
        <p:spPr>
          <a:xfrm>
            <a:off x="2976625" y="2676480"/>
            <a:ext cx="1142100" cy="5898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28924" y="378038"/>
            <a:ext cx="4686150" cy="438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628650" y="274638"/>
            <a:ext cx="68364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 sz="3300"/>
              <a:t>External Sources of Knowledge</a:t>
            </a:r>
            <a:endParaRPr sz="3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3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3300"/>
          </a:p>
        </p:txBody>
      </p:sp>
      <p:sp>
        <p:nvSpPr>
          <p:cNvPr id="103" name="Google Shape;103;p4"/>
          <p:cNvSpPr/>
          <p:nvPr/>
        </p:nvSpPr>
        <p:spPr>
          <a:xfrm>
            <a:off x="1201075" y="1186975"/>
            <a:ext cx="2064600" cy="3165300"/>
          </a:xfrm>
          <a:prstGeom prst="roundRect">
            <a:avLst>
              <a:gd fmla="val 16667" name="adj"/>
            </a:avLst>
          </a:prstGeom>
          <a:solidFill>
            <a:srgbClr val="F87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3539700" y="1186975"/>
            <a:ext cx="2064600" cy="3165300"/>
          </a:xfrm>
          <a:prstGeom prst="roundRect">
            <a:avLst>
              <a:gd fmla="val 16667" name="adj"/>
            </a:avLst>
          </a:prstGeom>
          <a:solidFill>
            <a:srgbClr val="F87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5878325" y="1186975"/>
            <a:ext cx="2064600" cy="3165300"/>
          </a:xfrm>
          <a:prstGeom prst="roundRect">
            <a:avLst>
              <a:gd fmla="val 16667" name="adj"/>
            </a:avLst>
          </a:prstGeom>
          <a:solidFill>
            <a:srgbClr val="F87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Google Shape;10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41338" y="1344200"/>
            <a:ext cx="984076" cy="984076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4"/>
          <p:cNvSpPr txBox="1"/>
          <p:nvPr/>
        </p:nvSpPr>
        <p:spPr>
          <a:xfrm>
            <a:off x="1669833" y="2392050"/>
            <a:ext cx="1127100" cy="3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" sz="1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Databases</a:t>
            </a:r>
            <a:endParaRPr b="1" i="0" sz="15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" name="Google Shape;108;p4"/>
          <p:cNvSpPr txBox="1"/>
          <p:nvPr/>
        </p:nvSpPr>
        <p:spPr>
          <a:xfrm>
            <a:off x="1340320" y="2960375"/>
            <a:ext cx="1794600" cy="11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SQL</a:t>
            </a:r>
            <a:endParaRPr b="0" i="0" sz="13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NoSQL</a:t>
            </a:r>
            <a:endParaRPr b="0" i="0" sz="13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Vector</a:t>
            </a:r>
            <a:endParaRPr b="0" i="0" sz="13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9" name="Google Shape;10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79950" y="1364500"/>
            <a:ext cx="984076" cy="984076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4"/>
          <p:cNvSpPr txBox="1"/>
          <p:nvPr/>
        </p:nvSpPr>
        <p:spPr>
          <a:xfrm>
            <a:off x="3875098" y="2392050"/>
            <a:ext cx="1393800" cy="3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" sz="1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Documents</a:t>
            </a:r>
            <a:endParaRPr b="1" i="0" sz="15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4"/>
          <p:cNvSpPr txBox="1"/>
          <p:nvPr/>
        </p:nvSpPr>
        <p:spPr>
          <a:xfrm>
            <a:off x="3674695" y="2960375"/>
            <a:ext cx="1794600" cy="11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Documents locals</a:t>
            </a:r>
            <a:endParaRPr b="0" i="0" sz="13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Intranet</a:t>
            </a:r>
            <a:endParaRPr b="0" i="0" sz="13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2" name="Google Shape;11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7250" y="1243162"/>
            <a:ext cx="1226749" cy="1226749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4"/>
          <p:cNvSpPr txBox="1"/>
          <p:nvPr/>
        </p:nvSpPr>
        <p:spPr>
          <a:xfrm>
            <a:off x="6213723" y="2392050"/>
            <a:ext cx="1393800" cy="3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" sz="1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Internet</a:t>
            </a:r>
            <a:endParaRPr b="1" i="0" sz="15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" name="Google Shape;114;p4"/>
          <p:cNvSpPr txBox="1"/>
          <p:nvPr/>
        </p:nvSpPr>
        <p:spPr>
          <a:xfrm>
            <a:off x="6053920" y="2960375"/>
            <a:ext cx="1794600" cy="11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Google</a:t>
            </a:r>
            <a:endParaRPr b="0" i="0" sz="13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Websites scrapping</a:t>
            </a:r>
            <a:endParaRPr b="0" i="0" sz="13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APIs</a:t>
            </a:r>
            <a:endParaRPr b="0" i="0" sz="13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/>
          <p:nvPr/>
        </p:nvSpPr>
        <p:spPr>
          <a:xfrm>
            <a:off x="976475" y="1169700"/>
            <a:ext cx="7451700" cy="3608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5"/>
          <p:cNvSpPr txBox="1"/>
          <p:nvPr>
            <p:ph type="title"/>
          </p:nvPr>
        </p:nvSpPr>
        <p:spPr>
          <a:xfrm>
            <a:off x="628650" y="274638"/>
            <a:ext cx="68364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rPr lang="es"/>
              <a:t>RAG Workflow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t/>
            </a:r>
            <a:endParaRPr/>
          </a:p>
        </p:txBody>
      </p:sp>
      <p:sp>
        <p:nvSpPr>
          <p:cNvPr id="121" name="Google Shape;121;p5"/>
          <p:cNvSpPr/>
          <p:nvPr/>
        </p:nvSpPr>
        <p:spPr>
          <a:xfrm>
            <a:off x="1192700" y="1287650"/>
            <a:ext cx="1076400" cy="456600"/>
          </a:xfrm>
          <a:prstGeom prst="roundRect">
            <a:avLst>
              <a:gd fmla="val 16667" name="adj"/>
            </a:avLst>
          </a:prstGeom>
          <a:solidFill>
            <a:srgbClr val="F87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 b="1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Preparation</a:t>
            </a:r>
            <a:endParaRPr b="1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2613250" y="1287650"/>
            <a:ext cx="1076400" cy="456600"/>
          </a:xfrm>
          <a:prstGeom prst="roundRect">
            <a:avLst>
              <a:gd fmla="val 16667" name="adj"/>
            </a:avLst>
          </a:prstGeom>
          <a:solidFill>
            <a:srgbClr val="F87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Document</a:t>
            </a:r>
            <a:endParaRPr b="1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Loader</a:t>
            </a:r>
            <a:endParaRPr b="1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4033800" y="1287638"/>
            <a:ext cx="1076400" cy="456600"/>
          </a:xfrm>
          <a:prstGeom prst="roundRect">
            <a:avLst>
              <a:gd fmla="val 16667" name="adj"/>
            </a:avLst>
          </a:prstGeom>
          <a:solidFill>
            <a:srgbClr val="F87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Document</a:t>
            </a:r>
            <a:endParaRPr b="1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Chunker</a:t>
            </a:r>
            <a:endParaRPr b="1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5454350" y="1287638"/>
            <a:ext cx="1076400" cy="456600"/>
          </a:xfrm>
          <a:prstGeom prst="roundRect">
            <a:avLst>
              <a:gd fmla="val 16667" name="adj"/>
            </a:avLst>
          </a:prstGeom>
          <a:solidFill>
            <a:srgbClr val="F87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Embedding</a:t>
            </a:r>
            <a:endParaRPr b="1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5" name="Google Shape;125;p5"/>
          <p:cNvCxnSpPr>
            <a:stCxn id="121" idx="3"/>
            <a:endCxn id="122" idx="1"/>
          </p:cNvCxnSpPr>
          <p:nvPr/>
        </p:nvCxnSpPr>
        <p:spPr>
          <a:xfrm>
            <a:off x="2269100" y="1515950"/>
            <a:ext cx="3441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126" name="Google Shape;12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13213" y="1784600"/>
            <a:ext cx="517575" cy="538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7" name="Google Shape;127;p5"/>
          <p:cNvCxnSpPr>
            <a:stCxn id="122" idx="3"/>
            <a:endCxn id="123" idx="1"/>
          </p:cNvCxnSpPr>
          <p:nvPr/>
        </p:nvCxnSpPr>
        <p:spPr>
          <a:xfrm>
            <a:off x="3689650" y="1515950"/>
            <a:ext cx="3441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128" name="Google Shape;12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45975" y="1825546"/>
            <a:ext cx="410940" cy="456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9" name="Google Shape;129;p5"/>
          <p:cNvCxnSpPr>
            <a:stCxn id="123" idx="3"/>
            <a:endCxn id="124" idx="1"/>
          </p:cNvCxnSpPr>
          <p:nvPr/>
        </p:nvCxnSpPr>
        <p:spPr>
          <a:xfrm>
            <a:off x="5110200" y="1515938"/>
            <a:ext cx="3441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130" name="Google Shape;13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86613" y="1757625"/>
            <a:ext cx="611875" cy="592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5"/>
          <p:cNvSpPr/>
          <p:nvPr/>
        </p:nvSpPr>
        <p:spPr>
          <a:xfrm>
            <a:off x="6874900" y="1287638"/>
            <a:ext cx="1076400" cy="456600"/>
          </a:xfrm>
          <a:prstGeom prst="roundRect">
            <a:avLst>
              <a:gd fmla="val 16667" name="adj"/>
            </a:avLst>
          </a:prstGeom>
          <a:solidFill>
            <a:srgbClr val="F87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Vector DB</a:t>
            </a:r>
            <a:endParaRPr b="1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2" name="Google Shape;132;p5"/>
          <p:cNvCxnSpPr>
            <a:stCxn id="124" idx="3"/>
            <a:endCxn id="131" idx="1"/>
          </p:cNvCxnSpPr>
          <p:nvPr/>
        </p:nvCxnSpPr>
        <p:spPr>
          <a:xfrm>
            <a:off x="6530750" y="1515938"/>
            <a:ext cx="3441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133" name="Google Shape;133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66163" y="1757625"/>
            <a:ext cx="493875" cy="49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32413" y="1820900"/>
            <a:ext cx="493877" cy="367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785288" y="1832501"/>
            <a:ext cx="344100" cy="344122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5"/>
          <p:cNvSpPr/>
          <p:nvPr/>
        </p:nvSpPr>
        <p:spPr>
          <a:xfrm>
            <a:off x="2379000" y="2880150"/>
            <a:ext cx="1076400" cy="10764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7" name="Google Shape;137;p5"/>
          <p:cNvCxnSpPr/>
          <p:nvPr/>
        </p:nvCxnSpPr>
        <p:spPr>
          <a:xfrm flipH="1">
            <a:off x="3439150" y="3321925"/>
            <a:ext cx="608700" cy="51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8" name="Google Shape;138;p5"/>
          <p:cNvCxnSpPr/>
          <p:nvPr/>
        </p:nvCxnSpPr>
        <p:spPr>
          <a:xfrm flipH="1" rot="10800000">
            <a:off x="3444225" y="3483950"/>
            <a:ext cx="593400" cy="102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9" name="Google Shape;139;p5"/>
          <p:cNvSpPr/>
          <p:nvPr/>
        </p:nvSpPr>
        <p:spPr>
          <a:xfrm>
            <a:off x="4033800" y="3190038"/>
            <a:ext cx="1076400" cy="456600"/>
          </a:xfrm>
          <a:prstGeom prst="roundRect">
            <a:avLst>
              <a:gd fmla="val 16667" name="adj"/>
            </a:avLst>
          </a:prstGeom>
          <a:solidFill>
            <a:srgbClr val="F87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Application</a:t>
            </a:r>
            <a:endParaRPr b="1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0" name="Google Shape;140;p5"/>
          <p:cNvCxnSpPr>
            <a:stCxn id="139" idx="0"/>
            <a:endCxn id="130" idx="2"/>
          </p:cNvCxnSpPr>
          <p:nvPr/>
        </p:nvCxnSpPr>
        <p:spPr>
          <a:xfrm flipH="1" rot="10800000">
            <a:off x="4572000" y="2350038"/>
            <a:ext cx="1420500" cy="840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1" name="Google Shape;141;p5"/>
          <p:cNvSpPr txBox="1"/>
          <p:nvPr/>
        </p:nvSpPr>
        <p:spPr>
          <a:xfrm>
            <a:off x="3770100" y="3956550"/>
            <a:ext cx="994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Input</a:t>
            </a:r>
            <a:endParaRPr b="0" i="0" sz="700" u="none" cap="none" strike="noStrike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2" name="Google Shape;142;p5"/>
          <p:cNvCxnSpPr>
            <a:stCxn id="141" idx="0"/>
          </p:cNvCxnSpPr>
          <p:nvPr/>
        </p:nvCxnSpPr>
        <p:spPr>
          <a:xfrm flipH="1" rot="10800000">
            <a:off x="4267200" y="3657150"/>
            <a:ext cx="3900" cy="2994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3" name="Google Shape;143;p5"/>
          <p:cNvSpPr/>
          <p:nvPr/>
        </p:nvSpPr>
        <p:spPr>
          <a:xfrm>
            <a:off x="6874900" y="3190038"/>
            <a:ext cx="1076400" cy="456600"/>
          </a:xfrm>
          <a:prstGeom prst="roundRect">
            <a:avLst>
              <a:gd fmla="val 16667" name="adj"/>
            </a:avLst>
          </a:prstGeom>
          <a:solidFill>
            <a:srgbClr val="F87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Rerank</a:t>
            </a:r>
            <a:endParaRPr b="1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4" name="Google Shape;144;p5"/>
          <p:cNvCxnSpPr>
            <a:stCxn id="133" idx="2"/>
            <a:endCxn id="143" idx="0"/>
          </p:cNvCxnSpPr>
          <p:nvPr/>
        </p:nvCxnSpPr>
        <p:spPr>
          <a:xfrm>
            <a:off x="7413101" y="2251500"/>
            <a:ext cx="0" cy="9384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145" name="Google Shape;145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07150" y="3697150"/>
            <a:ext cx="611875" cy="592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5"/>
          <p:cNvSpPr txBox="1"/>
          <p:nvPr/>
        </p:nvSpPr>
        <p:spPr>
          <a:xfrm>
            <a:off x="4692425" y="2541450"/>
            <a:ext cx="994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Query</a:t>
            </a:r>
            <a:endParaRPr b="0" i="0" sz="700" u="none" cap="none" strike="noStrike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5454350" y="3190038"/>
            <a:ext cx="1076400" cy="456600"/>
          </a:xfrm>
          <a:prstGeom prst="roundRect">
            <a:avLst>
              <a:gd fmla="val 16667" name="adj"/>
            </a:avLst>
          </a:prstGeom>
          <a:solidFill>
            <a:srgbClr val="F87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Augmented</a:t>
            </a:r>
            <a:endParaRPr b="1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Prompt</a:t>
            </a:r>
            <a:endParaRPr b="1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8" name="Google Shape;148;p5"/>
          <p:cNvCxnSpPr>
            <a:stCxn id="143" idx="1"/>
            <a:endCxn id="147" idx="3"/>
          </p:cNvCxnSpPr>
          <p:nvPr/>
        </p:nvCxnSpPr>
        <p:spPr>
          <a:xfrm rot="10800000">
            <a:off x="6530800" y="3418338"/>
            <a:ext cx="3441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9" name="Google Shape;149;p5"/>
          <p:cNvCxnSpPr>
            <a:stCxn id="147" idx="1"/>
            <a:endCxn id="139" idx="3"/>
          </p:cNvCxnSpPr>
          <p:nvPr/>
        </p:nvCxnSpPr>
        <p:spPr>
          <a:xfrm rot="10800000">
            <a:off x="5110250" y="3418338"/>
            <a:ext cx="3441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0" name="Google Shape;150;p5"/>
          <p:cNvSpPr txBox="1"/>
          <p:nvPr/>
        </p:nvSpPr>
        <p:spPr>
          <a:xfrm>
            <a:off x="7472375" y="2402400"/>
            <a:ext cx="994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Relevant Chunks</a:t>
            </a:r>
            <a:endParaRPr b="0" i="0" sz="700" u="none" cap="none" strike="noStrike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5599400" y="3753550"/>
            <a:ext cx="786300" cy="8775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5655200" y="3834725"/>
            <a:ext cx="669600" cy="111600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5655200" y="4461525"/>
            <a:ext cx="669600" cy="111600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5655200" y="4144375"/>
            <a:ext cx="669600" cy="271500"/>
          </a:xfrm>
          <a:prstGeom prst="rect">
            <a:avLst/>
          </a:prstGeom>
          <a:solidFill>
            <a:srgbClr val="B5661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5655200" y="3988217"/>
            <a:ext cx="669600" cy="111600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5"/>
          <p:cNvSpPr txBox="1"/>
          <p:nvPr/>
        </p:nvSpPr>
        <p:spPr>
          <a:xfrm>
            <a:off x="3404675" y="2942417"/>
            <a:ext cx="994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Augmented Prompt</a:t>
            </a:r>
            <a:endParaRPr b="0" i="0" sz="500" u="none" cap="none" strike="noStrike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Google Shape;157;p5"/>
          <p:cNvSpPr txBox="1"/>
          <p:nvPr/>
        </p:nvSpPr>
        <p:spPr>
          <a:xfrm>
            <a:off x="3379200" y="3447075"/>
            <a:ext cx="994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Response</a:t>
            </a:r>
            <a:endParaRPr b="0" i="0" sz="500" u="none" cap="none" strike="noStrike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" name="Google Shape;158;p5"/>
          <p:cNvSpPr txBox="1"/>
          <p:nvPr/>
        </p:nvSpPr>
        <p:spPr>
          <a:xfrm>
            <a:off x="4308160" y="3956550"/>
            <a:ext cx="994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Response</a:t>
            </a:r>
            <a:endParaRPr b="0" i="0" sz="700" u="none" cap="none" strike="noStrike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9" name="Google Shape;159;p5"/>
          <p:cNvCxnSpPr>
            <a:endCxn id="158" idx="0"/>
          </p:cNvCxnSpPr>
          <p:nvPr/>
        </p:nvCxnSpPr>
        <p:spPr>
          <a:xfrm flipH="1">
            <a:off x="4805260" y="3667350"/>
            <a:ext cx="3600" cy="2892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"/>
          <p:cNvSpPr txBox="1"/>
          <p:nvPr>
            <p:ph type="title"/>
          </p:nvPr>
        </p:nvSpPr>
        <p:spPr>
          <a:xfrm>
            <a:off x="628650" y="274638"/>
            <a:ext cx="68364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rPr lang="es"/>
              <a:t>Document Loading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t/>
            </a:r>
            <a:endParaRPr/>
          </a:p>
        </p:txBody>
      </p:sp>
      <p:sp>
        <p:nvSpPr>
          <p:cNvPr id="165" name="Google Shape;165;p6"/>
          <p:cNvSpPr txBox="1"/>
          <p:nvPr>
            <p:ph idx="1" type="body"/>
          </p:nvPr>
        </p:nvSpPr>
        <p:spPr>
          <a:xfrm>
            <a:off x="628650" y="1605725"/>
            <a:ext cx="5277300" cy="3035100"/>
          </a:xfrm>
          <a:prstGeom prst="rect">
            <a:avLst/>
          </a:prstGeom>
          <a:solidFill>
            <a:srgbClr val="1D1C30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0000"/>
              <a:buChar char="-"/>
            </a:pPr>
            <a:r>
              <a:rPr lang="es"/>
              <a:t>Los documentos se extraen de fuentes corporativas, APIs o bases de datos.</a:t>
            </a:r>
            <a:br>
              <a:rPr lang="es"/>
            </a:b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0000"/>
              <a:buChar char="-"/>
            </a:pPr>
            <a:r>
              <a:rPr lang="es"/>
              <a:t>Transformación de texto a vector con el modelo de embedding.</a:t>
            </a:r>
            <a:br>
              <a:rPr lang="es"/>
            </a:b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0000"/>
              <a:buChar char="-"/>
            </a:pPr>
            <a:r>
              <a:rPr lang="es"/>
              <a:t>Los vectores se guardan en una base de datos vectorial.</a:t>
            </a:r>
            <a:br>
              <a:rPr lang="es"/>
            </a:b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0000"/>
              <a:buChar char="-"/>
            </a:pPr>
            <a:r>
              <a:rPr lang="es"/>
              <a:t>Los documentos no pueden ser demasiado grandes para la ventana de contexto.</a:t>
            </a:r>
            <a:endParaRPr/>
          </a:p>
        </p:txBody>
      </p:sp>
      <p:pic>
        <p:nvPicPr>
          <p:cNvPr id="166" name="Google Shape;16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03025" y="1605725"/>
            <a:ext cx="2376950" cy="237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"/>
          <p:cNvSpPr/>
          <p:nvPr/>
        </p:nvSpPr>
        <p:spPr>
          <a:xfrm>
            <a:off x="976475" y="1764975"/>
            <a:ext cx="7451700" cy="156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7"/>
          <p:cNvSpPr txBox="1"/>
          <p:nvPr>
            <p:ph type="title"/>
          </p:nvPr>
        </p:nvSpPr>
        <p:spPr>
          <a:xfrm>
            <a:off x="628650" y="274638"/>
            <a:ext cx="68364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rPr lang="es"/>
              <a:t>Document Loading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t/>
            </a:r>
            <a:endParaRPr/>
          </a:p>
        </p:txBody>
      </p:sp>
      <p:sp>
        <p:nvSpPr>
          <p:cNvPr id="173" name="Google Shape;173;p7"/>
          <p:cNvSpPr/>
          <p:nvPr/>
        </p:nvSpPr>
        <p:spPr>
          <a:xfrm>
            <a:off x="1259700" y="1886595"/>
            <a:ext cx="1388400" cy="588900"/>
          </a:xfrm>
          <a:prstGeom prst="roundRect">
            <a:avLst>
              <a:gd fmla="val 16667" name="adj"/>
            </a:avLst>
          </a:prstGeom>
          <a:solidFill>
            <a:srgbClr val="F87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 b="1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Preparation</a:t>
            </a:r>
            <a:endParaRPr b="1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3091981" y="1886595"/>
            <a:ext cx="1388400" cy="588900"/>
          </a:xfrm>
          <a:prstGeom prst="roundRect">
            <a:avLst>
              <a:gd fmla="val 16667" name="adj"/>
            </a:avLst>
          </a:prstGeom>
          <a:solidFill>
            <a:srgbClr val="F87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Document</a:t>
            </a:r>
            <a:endParaRPr b="1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Loader</a:t>
            </a:r>
            <a:endParaRPr b="1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4924262" y="1886563"/>
            <a:ext cx="1388400" cy="588900"/>
          </a:xfrm>
          <a:prstGeom prst="roundRect">
            <a:avLst>
              <a:gd fmla="val 16667" name="adj"/>
            </a:avLst>
          </a:prstGeom>
          <a:solidFill>
            <a:srgbClr val="F87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Embedding</a:t>
            </a:r>
            <a:endParaRPr b="1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6" name="Google Shape;176;p7"/>
          <p:cNvCxnSpPr>
            <a:stCxn id="173" idx="3"/>
            <a:endCxn id="174" idx="1"/>
          </p:cNvCxnSpPr>
          <p:nvPr/>
        </p:nvCxnSpPr>
        <p:spPr>
          <a:xfrm>
            <a:off x="2648100" y="2181045"/>
            <a:ext cx="4440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7" name="Google Shape;177;p7"/>
          <p:cNvCxnSpPr>
            <a:stCxn id="174" idx="3"/>
            <a:endCxn id="175" idx="1"/>
          </p:cNvCxnSpPr>
          <p:nvPr/>
        </p:nvCxnSpPr>
        <p:spPr>
          <a:xfrm>
            <a:off x="4480381" y="2181045"/>
            <a:ext cx="4440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178" name="Google Shape;17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21142" y="2580394"/>
            <a:ext cx="530046" cy="5889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23843" y="2492771"/>
            <a:ext cx="789221" cy="764166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7"/>
          <p:cNvSpPr/>
          <p:nvPr/>
        </p:nvSpPr>
        <p:spPr>
          <a:xfrm>
            <a:off x="6756542" y="1886563"/>
            <a:ext cx="1388400" cy="588900"/>
          </a:xfrm>
          <a:prstGeom prst="roundRect">
            <a:avLst>
              <a:gd fmla="val 16667" name="adj"/>
            </a:avLst>
          </a:prstGeom>
          <a:solidFill>
            <a:srgbClr val="F87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Vector DB</a:t>
            </a:r>
            <a:endParaRPr b="1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1" name="Google Shape;181;p7"/>
          <p:cNvCxnSpPr>
            <a:stCxn id="175" idx="3"/>
            <a:endCxn id="180" idx="1"/>
          </p:cNvCxnSpPr>
          <p:nvPr/>
        </p:nvCxnSpPr>
        <p:spPr>
          <a:xfrm>
            <a:off x="6312662" y="2181013"/>
            <a:ext cx="4440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182" name="Google Shape;182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32224" y="2492771"/>
            <a:ext cx="637019" cy="637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39907" y="2574402"/>
            <a:ext cx="637022" cy="473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24042" y="2589366"/>
            <a:ext cx="443833" cy="4438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"/>
          <p:cNvSpPr txBox="1"/>
          <p:nvPr>
            <p:ph type="title"/>
          </p:nvPr>
        </p:nvSpPr>
        <p:spPr>
          <a:xfrm>
            <a:off x="628650" y="274638"/>
            <a:ext cx="68364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rPr lang="es"/>
              <a:t>Chunking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t/>
            </a:r>
            <a:endParaRPr/>
          </a:p>
        </p:txBody>
      </p:sp>
      <p:pic>
        <p:nvPicPr>
          <p:cNvPr id="190" name="Google Shape;19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58000" y="1602900"/>
            <a:ext cx="3321626" cy="221442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8"/>
          <p:cNvSpPr txBox="1"/>
          <p:nvPr>
            <p:ph idx="1" type="body"/>
          </p:nvPr>
        </p:nvSpPr>
        <p:spPr>
          <a:xfrm>
            <a:off x="628650" y="1605725"/>
            <a:ext cx="4608900" cy="3035100"/>
          </a:xfrm>
          <a:prstGeom prst="rect">
            <a:avLst/>
          </a:prstGeom>
          <a:solidFill>
            <a:srgbClr val="1D1C30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0000"/>
              <a:buChar char="-"/>
            </a:pPr>
            <a:r>
              <a:rPr lang="es"/>
              <a:t>División de los documentos en fragmentos</a:t>
            </a:r>
            <a:br>
              <a:rPr lang="es"/>
            </a:b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0000"/>
              <a:buChar char="-"/>
            </a:pPr>
            <a:r>
              <a:rPr lang="es"/>
              <a:t>Basados en tamaño, temas, semántica o sección lógica</a:t>
            </a:r>
            <a:br>
              <a:rPr lang="es"/>
            </a:b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0000"/>
              <a:buChar char="-"/>
            </a:pPr>
            <a:r>
              <a:rPr lang="es"/>
              <a:t>Mejora la precisión en la recuperación y análisis</a:t>
            </a:r>
            <a:br>
              <a:rPr lang="es"/>
            </a:b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0000"/>
              <a:buChar char="-"/>
            </a:pPr>
            <a:r>
              <a:rPr lang="es"/>
              <a:t>Cuanto más pequeños son los fragmentos, menor es el costo de inferencia del LLM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"/>
          <p:cNvSpPr/>
          <p:nvPr/>
        </p:nvSpPr>
        <p:spPr>
          <a:xfrm>
            <a:off x="537850" y="1811975"/>
            <a:ext cx="8099100" cy="1498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9"/>
          <p:cNvSpPr txBox="1"/>
          <p:nvPr>
            <p:ph type="title"/>
          </p:nvPr>
        </p:nvSpPr>
        <p:spPr>
          <a:xfrm>
            <a:off x="628650" y="274638"/>
            <a:ext cx="68364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rPr lang="es"/>
              <a:t>Chunking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t/>
            </a:r>
            <a:endParaRPr/>
          </a:p>
        </p:txBody>
      </p:sp>
      <p:sp>
        <p:nvSpPr>
          <p:cNvPr id="198" name="Google Shape;198;p9"/>
          <p:cNvSpPr/>
          <p:nvPr/>
        </p:nvSpPr>
        <p:spPr>
          <a:xfrm>
            <a:off x="665125" y="1957616"/>
            <a:ext cx="1244400" cy="528000"/>
          </a:xfrm>
          <a:prstGeom prst="roundRect">
            <a:avLst>
              <a:gd fmla="val 16667" name="adj"/>
            </a:avLst>
          </a:prstGeom>
          <a:solidFill>
            <a:srgbClr val="B566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 b="1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Preparation</a:t>
            </a:r>
            <a:endParaRPr b="1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2307461" y="1957616"/>
            <a:ext cx="1244400" cy="528000"/>
          </a:xfrm>
          <a:prstGeom prst="roundRect">
            <a:avLst>
              <a:gd fmla="val 16667" name="adj"/>
            </a:avLst>
          </a:prstGeom>
          <a:solidFill>
            <a:srgbClr val="B566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Document</a:t>
            </a:r>
            <a:endParaRPr b="1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Loader</a:t>
            </a:r>
            <a:endParaRPr b="1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3949797" y="1957602"/>
            <a:ext cx="1244400" cy="528000"/>
          </a:xfrm>
          <a:prstGeom prst="roundRect">
            <a:avLst>
              <a:gd fmla="val 16667" name="adj"/>
            </a:avLst>
          </a:prstGeom>
          <a:solidFill>
            <a:srgbClr val="B566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Document</a:t>
            </a:r>
            <a:endParaRPr b="1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Chunker</a:t>
            </a:r>
            <a:endParaRPr b="1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5592134" y="1957602"/>
            <a:ext cx="1244400" cy="528000"/>
          </a:xfrm>
          <a:prstGeom prst="roundRect">
            <a:avLst>
              <a:gd fmla="val 16667" name="adj"/>
            </a:avLst>
          </a:prstGeom>
          <a:solidFill>
            <a:srgbClr val="B566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Embedding</a:t>
            </a:r>
            <a:endParaRPr b="1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2" name="Google Shape;202;p9"/>
          <p:cNvCxnSpPr>
            <a:stCxn id="198" idx="3"/>
            <a:endCxn id="199" idx="1"/>
          </p:cNvCxnSpPr>
          <p:nvPr/>
        </p:nvCxnSpPr>
        <p:spPr>
          <a:xfrm>
            <a:off x="1909525" y="2221616"/>
            <a:ext cx="3978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203" name="Google Shape;20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72834" y="2532148"/>
            <a:ext cx="598382" cy="6225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4" name="Google Shape;204;p9"/>
          <p:cNvCxnSpPr>
            <a:stCxn id="199" idx="3"/>
            <a:endCxn id="200" idx="1"/>
          </p:cNvCxnSpPr>
          <p:nvPr/>
        </p:nvCxnSpPr>
        <p:spPr>
          <a:xfrm>
            <a:off x="3551861" y="2221616"/>
            <a:ext cx="3978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205" name="Google Shape;20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92134" y="2579486"/>
            <a:ext cx="475099" cy="52788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6" name="Google Shape;206;p9"/>
          <p:cNvCxnSpPr>
            <a:stCxn id="200" idx="3"/>
            <a:endCxn id="201" idx="1"/>
          </p:cNvCxnSpPr>
          <p:nvPr/>
        </p:nvCxnSpPr>
        <p:spPr>
          <a:xfrm>
            <a:off x="5194197" y="2221602"/>
            <a:ext cx="3978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207" name="Google Shape;207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60659" y="2500961"/>
            <a:ext cx="707405" cy="684941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9"/>
          <p:cNvSpPr/>
          <p:nvPr/>
        </p:nvSpPr>
        <p:spPr>
          <a:xfrm>
            <a:off x="7234470" y="1957602"/>
            <a:ext cx="1244400" cy="528000"/>
          </a:xfrm>
          <a:prstGeom prst="roundRect">
            <a:avLst>
              <a:gd fmla="val 16667" name="adj"/>
            </a:avLst>
          </a:prstGeom>
          <a:solidFill>
            <a:srgbClr val="B566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Vector DB</a:t>
            </a:r>
            <a:endParaRPr b="1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9" name="Google Shape;209;p9"/>
          <p:cNvCxnSpPr>
            <a:stCxn id="201" idx="3"/>
            <a:endCxn id="208" idx="1"/>
          </p:cNvCxnSpPr>
          <p:nvPr/>
        </p:nvCxnSpPr>
        <p:spPr>
          <a:xfrm>
            <a:off x="6836534" y="2221602"/>
            <a:ext cx="3978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210" name="Google Shape;210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71206" y="2500962"/>
            <a:ext cx="570982" cy="570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6650" y="2574115"/>
            <a:ext cx="570984" cy="424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50231" y="2587527"/>
            <a:ext cx="397823" cy="3978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"/>
          <p:cNvSpPr txBox="1"/>
          <p:nvPr>
            <p:ph type="title"/>
          </p:nvPr>
        </p:nvSpPr>
        <p:spPr>
          <a:xfrm>
            <a:off x="628650" y="274638"/>
            <a:ext cx="68364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rPr lang="es"/>
              <a:t>Chunking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t/>
            </a:r>
            <a:endParaRPr/>
          </a:p>
        </p:txBody>
      </p:sp>
      <p:sp>
        <p:nvSpPr>
          <p:cNvPr id="218" name="Google Shape;218;p10"/>
          <p:cNvSpPr txBox="1"/>
          <p:nvPr>
            <p:ph idx="1" type="body"/>
          </p:nvPr>
        </p:nvSpPr>
        <p:spPr>
          <a:xfrm>
            <a:off x="628650" y="1605734"/>
            <a:ext cx="7886700" cy="3035100"/>
          </a:xfrm>
          <a:prstGeom prst="rect">
            <a:avLst/>
          </a:prstGeom>
          <a:solidFill>
            <a:srgbClr val="1D1C30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16127"/>
              <a:buNone/>
            </a:pPr>
            <a:r>
              <a:rPr b="1" lang="es"/>
              <a:t>Técnicas</a:t>
            </a:r>
            <a:endParaRPr b="1"/>
          </a:p>
          <a:p>
            <a:pPr indent="-308608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90000"/>
              <a:buChar char="-"/>
            </a:pPr>
            <a:r>
              <a:rPr lang="es"/>
              <a:t>Tamaño fijo: Por tamaño de texto (por ejemplo, 1000 caracteres).</a:t>
            </a:r>
            <a:br>
              <a:rPr lang="es"/>
            </a:br>
            <a:endParaRPr/>
          </a:p>
          <a:p>
            <a:pPr indent="-30860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0000"/>
              <a:buChar char="-"/>
            </a:pPr>
            <a:r>
              <a:rPr lang="es"/>
              <a:t>División consciente de la estructura recursiva: Combina el "Tamaño fijo" pero respeta los límites lingüísticos (puntos, comas, ...).</a:t>
            </a:r>
            <a:br>
              <a:rPr lang="es"/>
            </a:br>
            <a:endParaRPr/>
          </a:p>
          <a:p>
            <a:pPr indent="-30860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0000"/>
              <a:buChar char="-"/>
            </a:pPr>
            <a:r>
              <a:rPr lang="es"/>
              <a:t>División consciente de la estructura: Conserva frases o párrafos, preservando la integridad semántica.</a:t>
            </a:r>
            <a:br>
              <a:rPr lang="es"/>
            </a:br>
            <a:endParaRPr/>
          </a:p>
          <a:p>
            <a:pPr indent="-30860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0000"/>
              <a:buChar char="-"/>
            </a:pPr>
            <a:r>
              <a:rPr lang="es"/>
              <a:t>División consciente del contenido: Enfocado en documentos estructurados; Markdown, HTML, LaTeX,...</a:t>
            </a:r>
            <a:br>
              <a:rPr lang="es"/>
            </a:br>
            <a:endParaRPr/>
          </a:p>
          <a:p>
            <a:pPr indent="-30860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0000"/>
              <a:buChar char="-"/>
            </a:pPr>
            <a:r>
              <a:rPr lang="es"/>
              <a:t>Segmentación basada en NLP: Enfocado en dividir los textos por cambios de tema.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4913" y="1103850"/>
            <a:ext cx="7814174" cy="31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553962e94e_0_253"/>
          <p:cNvSpPr txBox="1"/>
          <p:nvPr>
            <p:ph type="title"/>
          </p:nvPr>
        </p:nvSpPr>
        <p:spPr>
          <a:xfrm>
            <a:off x="628650" y="274638"/>
            <a:ext cx="68364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14"/>
              <a:buFont typeface="Arial"/>
              <a:buNone/>
            </a:pPr>
            <a:r>
              <a:rPr lang="es" sz="3400"/>
              <a:t>Document Loading &amp; Chunking</a:t>
            </a:r>
            <a:endParaRPr sz="3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14"/>
              <a:buFont typeface="Arial"/>
              <a:buNone/>
            </a:pPr>
            <a:r>
              <a:t/>
            </a:r>
            <a:endParaRPr sz="3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t/>
            </a:r>
            <a:endParaRPr sz="3400"/>
          </a:p>
        </p:txBody>
      </p:sp>
      <p:pic>
        <p:nvPicPr>
          <p:cNvPr id="229" name="Google Shape;229;g3553962e94e_0_2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0940" y="1101491"/>
            <a:ext cx="6559457" cy="40420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3"/>
          <p:cNvSpPr txBox="1"/>
          <p:nvPr>
            <p:ph type="title"/>
          </p:nvPr>
        </p:nvSpPr>
        <p:spPr>
          <a:xfrm>
            <a:off x="628650" y="274638"/>
            <a:ext cx="68364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 sz="3200"/>
              <a:t>Document retrieval and Reranking</a:t>
            </a:r>
            <a:endParaRPr sz="3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3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3200"/>
          </a:p>
        </p:txBody>
      </p:sp>
      <p:sp>
        <p:nvSpPr>
          <p:cNvPr id="235" name="Google Shape;235;p13"/>
          <p:cNvSpPr txBox="1"/>
          <p:nvPr>
            <p:ph idx="1" type="body"/>
          </p:nvPr>
        </p:nvSpPr>
        <p:spPr>
          <a:xfrm>
            <a:off x="628650" y="1605734"/>
            <a:ext cx="7886700" cy="3035100"/>
          </a:xfrm>
          <a:prstGeom prst="rect">
            <a:avLst/>
          </a:prstGeom>
          <a:solidFill>
            <a:srgbClr val="1D1C30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0000"/>
              <a:buChar char="-"/>
            </a:pPr>
            <a:r>
              <a:rPr lang="es"/>
              <a:t>A partir del prompt del usuario se crea una consulta a la base de datos vectorial.</a:t>
            </a:r>
            <a:br>
              <a:rPr lang="es"/>
            </a:b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0000"/>
              <a:buChar char="-"/>
            </a:pPr>
            <a:r>
              <a:rPr lang="es"/>
              <a:t>Esta consulta primero pasa por el modelo de embedding.</a:t>
            </a:r>
            <a:br>
              <a:rPr lang="es"/>
            </a:b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0000"/>
              <a:buChar char="-"/>
            </a:pPr>
            <a:r>
              <a:rPr lang="es"/>
              <a:t>La base de datos devuelve los resultados relevantes a partir de una consulta.</a:t>
            </a:r>
            <a:br>
              <a:rPr lang="es"/>
            </a:b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0000"/>
              <a:buChar char="-"/>
            </a:pPr>
            <a:r>
              <a:rPr lang="es"/>
              <a:t>Estos resultados son relevantes a partir de un umbral.</a:t>
            </a:r>
            <a:br>
              <a:rPr lang="es"/>
            </a:b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0000"/>
              <a:buChar char="-"/>
            </a:pPr>
            <a:r>
              <a:rPr lang="es"/>
              <a:t>Se ordenan los resultados por relevancia, 0 sin relevancia, 1 muy relevante.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4"/>
          <p:cNvSpPr/>
          <p:nvPr/>
        </p:nvSpPr>
        <p:spPr>
          <a:xfrm>
            <a:off x="537850" y="1096575"/>
            <a:ext cx="8099100" cy="3582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4"/>
          <p:cNvSpPr txBox="1"/>
          <p:nvPr>
            <p:ph type="title"/>
          </p:nvPr>
        </p:nvSpPr>
        <p:spPr>
          <a:xfrm>
            <a:off x="628650" y="274638"/>
            <a:ext cx="68364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 sz="3100"/>
              <a:t>Document retrieval and Reranking</a:t>
            </a:r>
            <a:endParaRPr sz="3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3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3100"/>
          </a:p>
        </p:txBody>
      </p:sp>
      <p:sp>
        <p:nvSpPr>
          <p:cNvPr id="242" name="Google Shape;242;p14"/>
          <p:cNvSpPr/>
          <p:nvPr/>
        </p:nvSpPr>
        <p:spPr>
          <a:xfrm>
            <a:off x="3908013" y="1211538"/>
            <a:ext cx="1076400" cy="456600"/>
          </a:xfrm>
          <a:prstGeom prst="roundRect">
            <a:avLst>
              <a:gd fmla="val 16667" name="adj"/>
            </a:avLst>
          </a:prstGeom>
          <a:solidFill>
            <a:srgbClr val="B566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Embedding</a:t>
            </a:r>
            <a:endParaRPr b="1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43" name="Google Shape;24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40275" y="1681525"/>
            <a:ext cx="611875" cy="59245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4"/>
          <p:cNvSpPr/>
          <p:nvPr/>
        </p:nvSpPr>
        <p:spPr>
          <a:xfrm>
            <a:off x="5328563" y="1211538"/>
            <a:ext cx="1076400" cy="456600"/>
          </a:xfrm>
          <a:prstGeom prst="roundRect">
            <a:avLst>
              <a:gd fmla="val 16667" name="adj"/>
            </a:avLst>
          </a:prstGeom>
          <a:solidFill>
            <a:srgbClr val="B566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Vector DB</a:t>
            </a:r>
            <a:endParaRPr b="1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5" name="Google Shape;245;p14"/>
          <p:cNvCxnSpPr>
            <a:stCxn id="242" idx="3"/>
            <a:endCxn id="244" idx="1"/>
          </p:cNvCxnSpPr>
          <p:nvPr/>
        </p:nvCxnSpPr>
        <p:spPr>
          <a:xfrm>
            <a:off x="4984413" y="1439838"/>
            <a:ext cx="3441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246" name="Google Shape;24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19825" y="1681525"/>
            <a:ext cx="493875" cy="493875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4"/>
          <p:cNvSpPr/>
          <p:nvPr/>
        </p:nvSpPr>
        <p:spPr>
          <a:xfrm>
            <a:off x="2487463" y="3113938"/>
            <a:ext cx="1076400" cy="456600"/>
          </a:xfrm>
          <a:prstGeom prst="roundRect">
            <a:avLst>
              <a:gd fmla="val 16667" name="adj"/>
            </a:avLst>
          </a:prstGeom>
          <a:solidFill>
            <a:srgbClr val="B566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Application</a:t>
            </a:r>
            <a:endParaRPr b="1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8" name="Google Shape;248;p14"/>
          <p:cNvCxnSpPr>
            <a:stCxn id="247" idx="0"/>
            <a:endCxn id="243" idx="2"/>
          </p:cNvCxnSpPr>
          <p:nvPr/>
        </p:nvCxnSpPr>
        <p:spPr>
          <a:xfrm flipH="1" rot="10800000">
            <a:off x="3025663" y="2273938"/>
            <a:ext cx="1420500" cy="840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9" name="Google Shape;249;p14"/>
          <p:cNvSpPr txBox="1"/>
          <p:nvPr/>
        </p:nvSpPr>
        <p:spPr>
          <a:xfrm>
            <a:off x="2223763" y="3880450"/>
            <a:ext cx="994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Input</a:t>
            </a:r>
            <a:endParaRPr b="0" i="0" sz="700" u="none" cap="none" strike="noStrike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0" name="Google Shape;250;p14"/>
          <p:cNvCxnSpPr>
            <a:stCxn id="249" idx="0"/>
          </p:cNvCxnSpPr>
          <p:nvPr/>
        </p:nvCxnSpPr>
        <p:spPr>
          <a:xfrm flipH="1" rot="10800000">
            <a:off x="2720863" y="3581050"/>
            <a:ext cx="3900" cy="2994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1" name="Google Shape;251;p14"/>
          <p:cNvSpPr/>
          <p:nvPr/>
        </p:nvSpPr>
        <p:spPr>
          <a:xfrm>
            <a:off x="5328563" y="3113938"/>
            <a:ext cx="1076400" cy="456600"/>
          </a:xfrm>
          <a:prstGeom prst="roundRect">
            <a:avLst>
              <a:gd fmla="val 16667" name="adj"/>
            </a:avLst>
          </a:prstGeom>
          <a:solidFill>
            <a:srgbClr val="B566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Rerank</a:t>
            </a:r>
            <a:endParaRPr b="1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2" name="Google Shape;252;p14"/>
          <p:cNvCxnSpPr>
            <a:stCxn id="246" idx="2"/>
            <a:endCxn id="251" idx="0"/>
          </p:cNvCxnSpPr>
          <p:nvPr/>
        </p:nvCxnSpPr>
        <p:spPr>
          <a:xfrm>
            <a:off x="5866763" y="2175400"/>
            <a:ext cx="0" cy="9384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253" name="Google Shape;25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60813" y="3621050"/>
            <a:ext cx="611875" cy="59245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4"/>
          <p:cNvSpPr txBox="1"/>
          <p:nvPr/>
        </p:nvSpPr>
        <p:spPr>
          <a:xfrm>
            <a:off x="3146088" y="2465350"/>
            <a:ext cx="994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Query</a:t>
            </a:r>
            <a:endParaRPr b="0" i="0" sz="700" u="none" cap="none" strike="noStrike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5" name="Google Shape;255;p14"/>
          <p:cNvSpPr/>
          <p:nvPr/>
        </p:nvSpPr>
        <p:spPr>
          <a:xfrm>
            <a:off x="3908013" y="3113938"/>
            <a:ext cx="1076400" cy="456600"/>
          </a:xfrm>
          <a:prstGeom prst="roundRect">
            <a:avLst>
              <a:gd fmla="val 16667" name="adj"/>
            </a:avLst>
          </a:prstGeom>
          <a:solidFill>
            <a:srgbClr val="B566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Augmented</a:t>
            </a:r>
            <a:endParaRPr b="1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Prompt</a:t>
            </a:r>
            <a:endParaRPr b="1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6" name="Google Shape;256;p14"/>
          <p:cNvCxnSpPr>
            <a:stCxn id="251" idx="1"/>
            <a:endCxn id="255" idx="3"/>
          </p:cNvCxnSpPr>
          <p:nvPr/>
        </p:nvCxnSpPr>
        <p:spPr>
          <a:xfrm rot="10800000">
            <a:off x="4984463" y="3342238"/>
            <a:ext cx="3441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7" name="Google Shape;257;p14"/>
          <p:cNvCxnSpPr>
            <a:stCxn id="255" idx="1"/>
            <a:endCxn id="247" idx="3"/>
          </p:cNvCxnSpPr>
          <p:nvPr/>
        </p:nvCxnSpPr>
        <p:spPr>
          <a:xfrm rot="10800000">
            <a:off x="3563913" y="3342238"/>
            <a:ext cx="3441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8" name="Google Shape;258;p14"/>
          <p:cNvSpPr txBox="1"/>
          <p:nvPr/>
        </p:nvSpPr>
        <p:spPr>
          <a:xfrm>
            <a:off x="5926038" y="2326300"/>
            <a:ext cx="994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Relevant Chunks</a:t>
            </a:r>
            <a:endParaRPr b="0" i="0" sz="700" u="none" cap="none" strike="noStrike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9" name="Google Shape;259;p14"/>
          <p:cNvSpPr/>
          <p:nvPr/>
        </p:nvSpPr>
        <p:spPr>
          <a:xfrm>
            <a:off x="4053063" y="3677450"/>
            <a:ext cx="786300" cy="8775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4"/>
          <p:cNvSpPr/>
          <p:nvPr/>
        </p:nvSpPr>
        <p:spPr>
          <a:xfrm>
            <a:off x="4108863" y="3758625"/>
            <a:ext cx="669600" cy="111600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4"/>
          <p:cNvSpPr/>
          <p:nvPr/>
        </p:nvSpPr>
        <p:spPr>
          <a:xfrm>
            <a:off x="4108863" y="4385425"/>
            <a:ext cx="669600" cy="111600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4"/>
          <p:cNvSpPr/>
          <p:nvPr/>
        </p:nvSpPr>
        <p:spPr>
          <a:xfrm>
            <a:off x="4108863" y="4068275"/>
            <a:ext cx="669600" cy="271500"/>
          </a:xfrm>
          <a:prstGeom prst="rect">
            <a:avLst/>
          </a:prstGeom>
          <a:solidFill>
            <a:srgbClr val="B5661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4"/>
          <p:cNvSpPr/>
          <p:nvPr/>
        </p:nvSpPr>
        <p:spPr>
          <a:xfrm>
            <a:off x="4108863" y="3912117"/>
            <a:ext cx="669600" cy="111600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553962e94e_0_291"/>
          <p:cNvSpPr txBox="1"/>
          <p:nvPr>
            <p:ph type="title"/>
          </p:nvPr>
        </p:nvSpPr>
        <p:spPr>
          <a:xfrm>
            <a:off x="628650" y="274638"/>
            <a:ext cx="68364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11"/>
              <a:buFont typeface="Arial"/>
              <a:buNone/>
            </a:pPr>
            <a:r>
              <a:rPr b="0" lang="es" sz="3400">
                <a:latin typeface="Roboto Medium"/>
                <a:ea typeface="Roboto Medium"/>
                <a:cs typeface="Roboto Medium"/>
                <a:sym typeface="Roboto Medium"/>
              </a:rPr>
              <a:t>Document retrieval and Reranking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14"/>
              <a:buFont typeface="Arial"/>
              <a:buNone/>
            </a:pPr>
            <a:r>
              <a:t/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t/>
            </a:r>
            <a:endParaRPr sz="2800"/>
          </a:p>
        </p:txBody>
      </p:sp>
      <p:pic>
        <p:nvPicPr>
          <p:cNvPr id="269" name="Google Shape;269;g3553962e94e_0_2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0940" y="1101491"/>
            <a:ext cx="6559457" cy="40420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5b94842d4e_0_0"/>
          <p:cNvSpPr/>
          <p:nvPr/>
        </p:nvSpPr>
        <p:spPr>
          <a:xfrm>
            <a:off x="976475" y="1169700"/>
            <a:ext cx="7451700" cy="3608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g35b94842d4e_0_0"/>
          <p:cNvSpPr txBox="1"/>
          <p:nvPr>
            <p:ph type="title"/>
          </p:nvPr>
        </p:nvSpPr>
        <p:spPr>
          <a:xfrm>
            <a:off x="628650" y="274638"/>
            <a:ext cx="68364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rPr lang="es"/>
              <a:t>RAG Workflow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t/>
            </a:r>
            <a:endParaRPr/>
          </a:p>
        </p:txBody>
      </p:sp>
      <p:sp>
        <p:nvSpPr>
          <p:cNvPr id="276" name="Google Shape;276;g35b94842d4e_0_0"/>
          <p:cNvSpPr/>
          <p:nvPr/>
        </p:nvSpPr>
        <p:spPr>
          <a:xfrm>
            <a:off x="1192700" y="1287650"/>
            <a:ext cx="1076400" cy="456600"/>
          </a:xfrm>
          <a:prstGeom prst="roundRect">
            <a:avLst>
              <a:gd fmla="val 16667" name="adj"/>
            </a:avLst>
          </a:prstGeom>
          <a:solidFill>
            <a:srgbClr val="F87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 b="1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Preparation</a:t>
            </a:r>
            <a:endParaRPr b="1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" name="Google Shape;277;g35b94842d4e_0_0"/>
          <p:cNvSpPr/>
          <p:nvPr/>
        </p:nvSpPr>
        <p:spPr>
          <a:xfrm>
            <a:off x="2613250" y="1287650"/>
            <a:ext cx="1076400" cy="456600"/>
          </a:xfrm>
          <a:prstGeom prst="roundRect">
            <a:avLst>
              <a:gd fmla="val 16667" name="adj"/>
            </a:avLst>
          </a:prstGeom>
          <a:solidFill>
            <a:srgbClr val="F87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Document</a:t>
            </a:r>
            <a:endParaRPr b="1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Loader</a:t>
            </a:r>
            <a:endParaRPr b="1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8" name="Google Shape;278;g35b94842d4e_0_0"/>
          <p:cNvSpPr/>
          <p:nvPr/>
        </p:nvSpPr>
        <p:spPr>
          <a:xfrm>
            <a:off x="4033800" y="1287638"/>
            <a:ext cx="1076400" cy="456600"/>
          </a:xfrm>
          <a:prstGeom prst="roundRect">
            <a:avLst>
              <a:gd fmla="val 16667" name="adj"/>
            </a:avLst>
          </a:prstGeom>
          <a:solidFill>
            <a:srgbClr val="F87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Document</a:t>
            </a:r>
            <a:endParaRPr b="1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Chunker</a:t>
            </a:r>
            <a:endParaRPr b="1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9" name="Google Shape;279;g35b94842d4e_0_0"/>
          <p:cNvSpPr/>
          <p:nvPr/>
        </p:nvSpPr>
        <p:spPr>
          <a:xfrm>
            <a:off x="5454350" y="1287638"/>
            <a:ext cx="1076400" cy="456600"/>
          </a:xfrm>
          <a:prstGeom prst="roundRect">
            <a:avLst>
              <a:gd fmla="val 16667" name="adj"/>
            </a:avLst>
          </a:prstGeom>
          <a:solidFill>
            <a:srgbClr val="F87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Embedding</a:t>
            </a:r>
            <a:endParaRPr b="1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0" name="Google Shape;280;g35b94842d4e_0_0"/>
          <p:cNvCxnSpPr>
            <a:stCxn id="276" idx="3"/>
            <a:endCxn id="277" idx="1"/>
          </p:cNvCxnSpPr>
          <p:nvPr/>
        </p:nvCxnSpPr>
        <p:spPr>
          <a:xfrm>
            <a:off x="2269100" y="1515950"/>
            <a:ext cx="3441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281" name="Google Shape;281;g35b94842d4e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13213" y="1784600"/>
            <a:ext cx="517575" cy="538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2" name="Google Shape;282;g35b94842d4e_0_0"/>
          <p:cNvCxnSpPr>
            <a:stCxn id="277" idx="3"/>
            <a:endCxn id="278" idx="1"/>
          </p:cNvCxnSpPr>
          <p:nvPr/>
        </p:nvCxnSpPr>
        <p:spPr>
          <a:xfrm>
            <a:off x="3689650" y="1515950"/>
            <a:ext cx="3441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283" name="Google Shape;283;g35b94842d4e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45975" y="1825546"/>
            <a:ext cx="410940" cy="456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4" name="Google Shape;284;g35b94842d4e_0_0"/>
          <p:cNvCxnSpPr>
            <a:stCxn id="278" idx="3"/>
            <a:endCxn id="279" idx="1"/>
          </p:cNvCxnSpPr>
          <p:nvPr/>
        </p:nvCxnSpPr>
        <p:spPr>
          <a:xfrm>
            <a:off x="5110200" y="1515938"/>
            <a:ext cx="3441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285" name="Google Shape;285;g35b94842d4e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86613" y="1757625"/>
            <a:ext cx="611875" cy="59245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g35b94842d4e_0_0"/>
          <p:cNvSpPr/>
          <p:nvPr/>
        </p:nvSpPr>
        <p:spPr>
          <a:xfrm>
            <a:off x="6874900" y="1287638"/>
            <a:ext cx="1076400" cy="456600"/>
          </a:xfrm>
          <a:prstGeom prst="roundRect">
            <a:avLst>
              <a:gd fmla="val 16667" name="adj"/>
            </a:avLst>
          </a:prstGeom>
          <a:solidFill>
            <a:srgbClr val="F87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Vector DB</a:t>
            </a:r>
            <a:endParaRPr b="1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7" name="Google Shape;287;g35b94842d4e_0_0"/>
          <p:cNvCxnSpPr>
            <a:stCxn id="279" idx="3"/>
            <a:endCxn id="286" idx="1"/>
          </p:cNvCxnSpPr>
          <p:nvPr/>
        </p:nvCxnSpPr>
        <p:spPr>
          <a:xfrm>
            <a:off x="6530750" y="1515938"/>
            <a:ext cx="3441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288" name="Google Shape;288;g35b94842d4e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66163" y="1757625"/>
            <a:ext cx="493875" cy="49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g35b94842d4e_0_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32413" y="1820900"/>
            <a:ext cx="493877" cy="367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g35b94842d4e_0_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785288" y="1832501"/>
            <a:ext cx="344100" cy="344122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g35b94842d4e_0_0"/>
          <p:cNvSpPr/>
          <p:nvPr/>
        </p:nvSpPr>
        <p:spPr>
          <a:xfrm>
            <a:off x="2379000" y="2880150"/>
            <a:ext cx="1076400" cy="10764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2" name="Google Shape;292;g35b94842d4e_0_0"/>
          <p:cNvCxnSpPr/>
          <p:nvPr/>
        </p:nvCxnSpPr>
        <p:spPr>
          <a:xfrm flipH="1">
            <a:off x="3439150" y="3321925"/>
            <a:ext cx="608700" cy="51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3" name="Google Shape;293;g35b94842d4e_0_0"/>
          <p:cNvCxnSpPr/>
          <p:nvPr/>
        </p:nvCxnSpPr>
        <p:spPr>
          <a:xfrm flipH="1" rot="10800000">
            <a:off x="3444225" y="3483950"/>
            <a:ext cx="593400" cy="102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4" name="Google Shape;294;g35b94842d4e_0_0"/>
          <p:cNvSpPr/>
          <p:nvPr/>
        </p:nvSpPr>
        <p:spPr>
          <a:xfrm>
            <a:off x="4033800" y="3190038"/>
            <a:ext cx="1076400" cy="456600"/>
          </a:xfrm>
          <a:prstGeom prst="roundRect">
            <a:avLst>
              <a:gd fmla="val 16667" name="adj"/>
            </a:avLst>
          </a:prstGeom>
          <a:solidFill>
            <a:srgbClr val="F87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Application</a:t>
            </a:r>
            <a:endParaRPr b="1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95" name="Google Shape;295;g35b94842d4e_0_0"/>
          <p:cNvCxnSpPr>
            <a:stCxn id="294" idx="0"/>
            <a:endCxn id="285" idx="2"/>
          </p:cNvCxnSpPr>
          <p:nvPr/>
        </p:nvCxnSpPr>
        <p:spPr>
          <a:xfrm flipH="1" rot="10800000">
            <a:off x="4572000" y="2350038"/>
            <a:ext cx="1420500" cy="840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6" name="Google Shape;296;g35b94842d4e_0_0"/>
          <p:cNvSpPr txBox="1"/>
          <p:nvPr/>
        </p:nvSpPr>
        <p:spPr>
          <a:xfrm>
            <a:off x="3770100" y="3956550"/>
            <a:ext cx="994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Input</a:t>
            </a:r>
            <a:endParaRPr b="0" i="0" sz="700" u="none" cap="none" strike="noStrike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97" name="Google Shape;297;g35b94842d4e_0_0"/>
          <p:cNvCxnSpPr>
            <a:stCxn id="296" idx="0"/>
          </p:cNvCxnSpPr>
          <p:nvPr/>
        </p:nvCxnSpPr>
        <p:spPr>
          <a:xfrm flipH="1" rot="10800000">
            <a:off x="4267200" y="3657150"/>
            <a:ext cx="3900" cy="2994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8" name="Google Shape;298;g35b94842d4e_0_0"/>
          <p:cNvSpPr/>
          <p:nvPr/>
        </p:nvSpPr>
        <p:spPr>
          <a:xfrm>
            <a:off x="6874900" y="3190038"/>
            <a:ext cx="1076400" cy="456600"/>
          </a:xfrm>
          <a:prstGeom prst="roundRect">
            <a:avLst>
              <a:gd fmla="val 16667" name="adj"/>
            </a:avLst>
          </a:prstGeom>
          <a:solidFill>
            <a:srgbClr val="F87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Rerank</a:t>
            </a:r>
            <a:endParaRPr b="1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99" name="Google Shape;299;g35b94842d4e_0_0"/>
          <p:cNvCxnSpPr>
            <a:stCxn id="288" idx="2"/>
            <a:endCxn id="298" idx="0"/>
          </p:cNvCxnSpPr>
          <p:nvPr/>
        </p:nvCxnSpPr>
        <p:spPr>
          <a:xfrm>
            <a:off x="7413101" y="2251500"/>
            <a:ext cx="0" cy="9384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300" name="Google Shape;300;g35b94842d4e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07150" y="3697150"/>
            <a:ext cx="611875" cy="59245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g35b94842d4e_0_0"/>
          <p:cNvSpPr txBox="1"/>
          <p:nvPr/>
        </p:nvSpPr>
        <p:spPr>
          <a:xfrm>
            <a:off x="4692425" y="2541450"/>
            <a:ext cx="994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Query</a:t>
            </a:r>
            <a:endParaRPr b="0" i="0" sz="700" u="none" cap="none" strike="noStrike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2" name="Google Shape;302;g35b94842d4e_0_0"/>
          <p:cNvSpPr/>
          <p:nvPr/>
        </p:nvSpPr>
        <p:spPr>
          <a:xfrm>
            <a:off x="5454350" y="3190038"/>
            <a:ext cx="1076400" cy="456600"/>
          </a:xfrm>
          <a:prstGeom prst="roundRect">
            <a:avLst>
              <a:gd fmla="val 16667" name="adj"/>
            </a:avLst>
          </a:prstGeom>
          <a:solidFill>
            <a:srgbClr val="F87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Augmented</a:t>
            </a:r>
            <a:endParaRPr b="1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Prompt</a:t>
            </a:r>
            <a:endParaRPr b="1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3" name="Google Shape;303;g35b94842d4e_0_0"/>
          <p:cNvCxnSpPr>
            <a:stCxn id="298" idx="1"/>
            <a:endCxn id="302" idx="3"/>
          </p:cNvCxnSpPr>
          <p:nvPr/>
        </p:nvCxnSpPr>
        <p:spPr>
          <a:xfrm rot="10800000">
            <a:off x="6530800" y="3418338"/>
            <a:ext cx="3441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4" name="Google Shape;304;g35b94842d4e_0_0"/>
          <p:cNvCxnSpPr>
            <a:stCxn id="302" idx="1"/>
            <a:endCxn id="294" idx="3"/>
          </p:cNvCxnSpPr>
          <p:nvPr/>
        </p:nvCxnSpPr>
        <p:spPr>
          <a:xfrm rot="10800000">
            <a:off x="5110250" y="3418338"/>
            <a:ext cx="3441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5" name="Google Shape;305;g35b94842d4e_0_0"/>
          <p:cNvSpPr txBox="1"/>
          <p:nvPr/>
        </p:nvSpPr>
        <p:spPr>
          <a:xfrm>
            <a:off x="7472375" y="2402400"/>
            <a:ext cx="994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Relevant Chunks</a:t>
            </a:r>
            <a:endParaRPr b="0" i="0" sz="700" u="none" cap="none" strike="noStrike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6" name="Google Shape;306;g35b94842d4e_0_0"/>
          <p:cNvSpPr/>
          <p:nvPr/>
        </p:nvSpPr>
        <p:spPr>
          <a:xfrm>
            <a:off x="5599400" y="3753550"/>
            <a:ext cx="786300" cy="8775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g35b94842d4e_0_0"/>
          <p:cNvSpPr/>
          <p:nvPr/>
        </p:nvSpPr>
        <p:spPr>
          <a:xfrm>
            <a:off x="5655200" y="3834725"/>
            <a:ext cx="669600" cy="111600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g35b94842d4e_0_0"/>
          <p:cNvSpPr/>
          <p:nvPr/>
        </p:nvSpPr>
        <p:spPr>
          <a:xfrm>
            <a:off x="5655200" y="4461525"/>
            <a:ext cx="669600" cy="111600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g35b94842d4e_0_0"/>
          <p:cNvSpPr/>
          <p:nvPr/>
        </p:nvSpPr>
        <p:spPr>
          <a:xfrm>
            <a:off x="5655200" y="4144375"/>
            <a:ext cx="669600" cy="271500"/>
          </a:xfrm>
          <a:prstGeom prst="rect">
            <a:avLst/>
          </a:prstGeom>
          <a:solidFill>
            <a:srgbClr val="B5661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g35b94842d4e_0_0"/>
          <p:cNvSpPr/>
          <p:nvPr/>
        </p:nvSpPr>
        <p:spPr>
          <a:xfrm>
            <a:off x="5655200" y="3988217"/>
            <a:ext cx="669600" cy="111600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g35b94842d4e_0_0"/>
          <p:cNvSpPr txBox="1"/>
          <p:nvPr/>
        </p:nvSpPr>
        <p:spPr>
          <a:xfrm>
            <a:off x="3404675" y="2942417"/>
            <a:ext cx="994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Augmented Prompt</a:t>
            </a:r>
            <a:endParaRPr b="0" i="0" sz="500" u="none" cap="none" strike="noStrike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2" name="Google Shape;312;g35b94842d4e_0_0"/>
          <p:cNvSpPr txBox="1"/>
          <p:nvPr/>
        </p:nvSpPr>
        <p:spPr>
          <a:xfrm>
            <a:off x="3379200" y="3447075"/>
            <a:ext cx="994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Response</a:t>
            </a:r>
            <a:endParaRPr b="0" i="0" sz="500" u="none" cap="none" strike="noStrike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" name="Google Shape;313;g35b94842d4e_0_0"/>
          <p:cNvSpPr txBox="1"/>
          <p:nvPr/>
        </p:nvSpPr>
        <p:spPr>
          <a:xfrm>
            <a:off x="4308160" y="3956550"/>
            <a:ext cx="994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Response</a:t>
            </a:r>
            <a:endParaRPr b="0" i="0" sz="700" u="none" cap="none" strike="noStrike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4" name="Google Shape;314;g35b94842d4e_0_0"/>
          <p:cNvCxnSpPr>
            <a:endCxn id="313" idx="0"/>
          </p:cNvCxnSpPr>
          <p:nvPr/>
        </p:nvCxnSpPr>
        <p:spPr>
          <a:xfrm flipH="1">
            <a:off x="4805260" y="3667350"/>
            <a:ext cx="3600" cy="2892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0"/>
          <p:cNvSpPr txBox="1"/>
          <p:nvPr>
            <p:ph type="title"/>
          </p:nvPr>
        </p:nvSpPr>
        <p:spPr>
          <a:xfrm>
            <a:off x="628650" y="274638"/>
            <a:ext cx="68364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rPr b="0" lang="es">
                <a:latin typeface="Roboto Medium"/>
                <a:ea typeface="Roboto Medium"/>
                <a:cs typeface="Roboto Medium"/>
                <a:sym typeface="Roboto Medium"/>
              </a:rPr>
              <a:t>Advanced RAG</a:t>
            </a:r>
            <a:endParaRPr b="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t/>
            </a:r>
            <a:endParaRPr b="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t/>
            </a:r>
            <a:endParaRPr b="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t/>
            </a:r>
            <a:endParaRPr b="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t/>
            </a:r>
            <a:endParaRPr b="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t/>
            </a:r>
            <a:endParaRPr/>
          </a:p>
        </p:txBody>
      </p:sp>
      <p:pic>
        <p:nvPicPr>
          <p:cNvPr id="320" name="Google Shape;32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7000" y="1046550"/>
            <a:ext cx="6170000" cy="381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g1f4735f05770abbf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2888" y="152400"/>
            <a:ext cx="6898220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g305d8aa7d64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0988" y="687775"/>
            <a:ext cx="7462024" cy="4157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g305d8aa7d64_0_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9363" y="657950"/>
            <a:ext cx="6725276" cy="427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g305d8aa7d64_0_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5975" y="764550"/>
            <a:ext cx="5532051" cy="4067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5" name="Google Shape;34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16601" y="584825"/>
            <a:ext cx="5510800" cy="4436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0" name="Google Shape;350;g305d8aa7d64_0_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8900" y="1046950"/>
            <a:ext cx="7766201" cy="343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g305d8aa7d64_0_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250" y="1023000"/>
            <a:ext cx="8735500" cy="32105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0" name="Google Shape;360;g305d8aa7d64_0_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0012" y="863900"/>
            <a:ext cx="8303973" cy="3373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05d8aa7d64_0_57"/>
          <p:cNvSpPr txBox="1"/>
          <p:nvPr>
            <p:ph type="title"/>
          </p:nvPr>
        </p:nvSpPr>
        <p:spPr>
          <a:xfrm>
            <a:off x="628650" y="274638"/>
            <a:ext cx="68364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rPr b="0" lang="es">
                <a:latin typeface="Roboto Medium"/>
                <a:ea typeface="Roboto Medium"/>
                <a:cs typeface="Roboto Medium"/>
                <a:sym typeface="Roboto Medium"/>
              </a:rPr>
              <a:t>Knowledge Graph RAG</a:t>
            </a:r>
            <a:endParaRPr b="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t/>
            </a:r>
            <a:endParaRPr b="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t/>
            </a:r>
            <a:endParaRPr b="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t/>
            </a:r>
            <a:endParaRPr/>
          </a:p>
        </p:txBody>
      </p:sp>
      <p:pic>
        <p:nvPicPr>
          <p:cNvPr id="366" name="Google Shape;366;g305d8aa7d64_0_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87375" y="1406450"/>
            <a:ext cx="5202950" cy="274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g305d8aa7d64_0_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400" y="1557950"/>
            <a:ext cx="3220499" cy="228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094e535396_1_6"/>
          <p:cNvSpPr txBox="1"/>
          <p:nvPr>
            <p:ph type="title"/>
          </p:nvPr>
        </p:nvSpPr>
        <p:spPr>
          <a:xfrm>
            <a:off x="628650" y="274638"/>
            <a:ext cx="68364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7777"/>
              <a:buFont typeface="Arial"/>
              <a:buNone/>
            </a:pPr>
            <a:r>
              <a:rPr b="0" lang="es">
                <a:latin typeface="Roboto Medium"/>
                <a:ea typeface="Roboto Medium"/>
                <a:cs typeface="Roboto Medium"/>
                <a:sym typeface="Roboto Medium"/>
              </a:rPr>
              <a:t>Knowledge Graph RAG</a:t>
            </a:r>
            <a:endParaRPr b="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t/>
            </a:r>
            <a:endParaRPr b="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t/>
            </a:r>
            <a:endParaRPr b="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t/>
            </a:r>
            <a:endParaRPr b="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t/>
            </a:r>
            <a:endParaRPr/>
          </a:p>
        </p:txBody>
      </p:sp>
      <p:pic>
        <p:nvPicPr>
          <p:cNvPr id="373" name="Google Shape;373;g3094e535396_1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1343" y="1268550"/>
            <a:ext cx="5641307" cy="357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094e535396_1_13"/>
          <p:cNvSpPr txBox="1"/>
          <p:nvPr>
            <p:ph type="title"/>
          </p:nvPr>
        </p:nvSpPr>
        <p:spPr>
          <a:xfrm>
            <a:off x="628650" y="274638"/>
            <a:ext cx="68364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rPr b="0" lang="es">
                <a:latin typeface="Roboto Medium"/>
                <a:ea typeface="Roboto Medium"/>
                <a:cs typeface="Roboto Medium"/>
                <a:sym typeface="Roboto Medium"/>
              </a:rPr>
              <a:t>Knowledge Graph RAG</a:t>
            </a:r>
            <a:endParaRPr b="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t/>
            </a:r>
            <a:endParaRPr b="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t/>
            </a:r>
            <a:endParaRPr b="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t/>
            </a:r>
            <a:endParaRPr b="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t/>
            </a:r>
            <a:endParaRPr/>
          </a:p>
        </p:txBody>
      </p:sp>
      <p:pic>
        <p:nvPicPr>
          <p:cNvPr id="379" name="Google Shape;379;g3094e535396_1_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6988" y="1096800"/>
            <a:ext cx="5430024" cy="34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094e535396_1_0"/>
          <p:cNvSpPr txBox="1"/>
          <p:nvPr/>
        </p:nvSpPr>
        <p:spPr>
          <a:xfrm>
            <a:off x="118650" y="2057675"/>
            <a:ext cx="8906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g3094e535396_1_0"/>
          <p:cNvSpPr txBox="1"/>
          <p:nvPr>
            <p:ph type="title"/>
          </p:nvPr>
        </p:nvSpPr>
        <p:spPr>
          <a:xfrm>
            <a:off x="628650" y="274638"/>
            <a:ext cx="68364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rPr b="0" lang="es">
                <a:latin typeface="Roboto Medium"/>
                <a:ea typeface="Roboto Medium"/>
                <a:cs typeface="Roboto Medium"/>
                <a:sym typeface="Roboto Medium"/>
              </a:rPr>
              <a:t>RAG Prompt Techniques</a:t>
            </a:r>
            <a:endParaRPr b="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t/>
            </a:r>
            <a:endParaRPr b="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t/>
            </a:r>
            <a:endParaRPr b="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t/>
            </a:r>
            <a:endParaRPr/>
          </a:p>
        </p:txBody>
      </p:sp>
      <p:sp>
        <p:nvSpPr>
          <p:cNvPr id="386" name="Google Shape;386;g3094e535396_1_0"/>
          <p:cNvSpPr txBox="1"/>
          <p:nvPr>
            <p:ph idx="1" type="body"/>
          </p:nvPr>
        </p:nvSpPr>
        <p:spPr>
          <a:xfrm>
            <a:off x="628650" y="1605734"/>
            <a:ext cx="7886700" cy="3035100"/>
          </a:xfrm>
          <a:prstGeom prst="rect">
            <a:avLst/>
          </a:prstGeom>
          <a:solidFill>
            <a:srgbClr val="1D1C30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" sz="14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https://slow-yarn-066.notion.site/RAG-Prompt-Techniques-10dffc444faf8027ac2ddcb78423a369?pvs=4</a:t>
            </a:r>
            <a:r>
              <a:rPr lang="es" sz="1400">
                <a:solidFill>
                  <a:schemeClr val="dk1"/>
                </a:solidFill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1" name="Google Shape;391;g3fd71d061b341f7c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4538" y="330937"/>
            <a:ext cx="5977176" cy="4481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g3553962e94e_0_296" title="Captura de pantalla 2025-05-06 a les 5.32.4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65150" y="3618700"/>
            <a:ext cx="2281325" cy="132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g3553962e94e_0_29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6988" y="152400"/>
            <a:ext cx="2889518" cy="4838702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g3553962e94e_0_296"/>
          <p:cNvSpPr txBox="1"/>
          <p:nvPr>
            <p:ph idx="1" type="body"/>
          </p:nvPr>
        </p:nvSpPr>
        <p:spPr>
          <a:xfrm>
            <a:off x="3865150" y="2906578"/>
            <a:ext cx="4572900" cy="430200"/>
          </a:xfrm>
          <a:prstGeom prst="rect">
            <a:avLst/>
          </a:prstGeom>
          <a:solidFill>
            <a:srgbClr val="1D1D3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" sz="1800" u="sng">
                <a:solidFill>
                  <a:schemeClr val="hlink"/>
                </a:solidFill>
                <a:hlinkClick r:id="rId5"/>
              </a:rPr>
              <a:t>https://miro.com/app/board/uXjVNvklNmc=/</a:t>
            </a:r>
            <a:r>
              <a:rPr lang="es" sz="1800"/>
              <a:t> </a:t>
            </a:r>
            <a:endParaRPr sz="18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553962e94e_0_7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s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